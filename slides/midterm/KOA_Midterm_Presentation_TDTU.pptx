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00:40
Báo cáo trình bày tiến độ của KOA Agentic-RAG System theo snapshot khoa học ac4ade7. Mục tiêu là một prototype truy xuất và kiểm chứng bằng chứng từ guideline thoái hóa khớp gối. Phần chính tập trung vào thiết kế framework, ranh giới benchmark, cơ chế PRE/POST và protocol E1-v2. Các kết quả hiện có là qualification kỹ thuật offline với MOCK. Chất lượng lâm sàng và ưu thế giữa các nhánh vẫn chưa có kết luận. Logo lấy nguyên bản từ website chính thức TDTU. Bố cục này là TDTU-inspired academic theme, chưa có căn cứ gọi là template chính thức của trường.
Nguồn và giới hạn:
- docs/midterm/content-contract.md (scientific baseline ac4ade796e56377882b8069d0fb7a14809e8180b)
- Logo official, unaltered: https://www.tdtu.edu.vn/sites/www/files/logo_2.png; source page https://www.tdtu.edu.vn/; retrieved 2026-10-21. Design colors are choices, not official brand specifications.</a:t>
            </a:r>
            <a:endParaRPr lang="vi-V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01:05
Một đoạn được truy xuất có thể liên quan đến câu hỏi nhưng chưa đủ để tạo câu trả lời có căn cứ. Trong đề tài, yêu cầu cần tách thành phạm vi nguồn, nghĩa vụ thông tin và hỗ trợ ở mức phát biểu. Ví dụ về mặt cấu trúc, khi câu hỏi có nhiều phần, hệ thống phải xem bằng chứng có bao phủ từng phần hay không. Đây là ví dụ về hợp đồng thông tin, không đưa ra hướng dẫn điều trị. Framework vì vậy đặt một cổng trước khi sinh để xét mức đủ bằng chứng và một cổng sau khi sinh để xét nội dung câu trả lời. Quyết định chấp nhận nội bộ vẫn cần đánh giá độc lập nếu muốn kết luận về chất lượng lâm sàng.
Nguồn và giới hạn:
- docs/midterm/content-contract.md (scientific baseline ac4ade796e56377882b8069d0fb7a14809e8180b)
- Lewis et al. Retrieval-Augmented Generation for Knowledge-Intensive NLP Tasks. NeurIPS 2020. https://arxiv.org/abs/2005.11401
- Xiong et al. Benchmarking Retrieval-Augmented Generation for Medicine. Findings ACL 2024:6233-6251. https://aclanthology.org/2024.findings-acl.372/</a:t>
            </a:r>
            <a:endParaRPr lang="vi-V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01:05
RAG cung cấp nền tảng truy xuất kết hợp sinh. Self-RAG cho thấy cách đưa phản tư vào quyết định truy xuất và sinh. Corrective RAG gợi ý đánh giá chất lượng bằng chứng và cơ chế truy xuất điều chỉnh. FActScore đặt trọng tâm vào từng phát biểu nguyên tử. Đề tài sử dụng các hướng này làm cơ sở thiết kế, rồi nối nghĩa vụ từ câu hỏi với kiểm tra bằng chứng trước khi sinh và hỗ trợ claim sau khi sinh. Phần bổ sung là hợp đồng kiểu dữ liệu và guard xác định cho hành động. Đây là mục tiêu thiết kế của nghiên cứu, chưa phải kết luận rằng hệ thống mới hơn hoặc tốt hơn những phương pháp đã công bố.
Nguồn và giới hạn:
- docs/midterm/content-contract.md (scientific baseline ac4ade796e56377882b8069d0fb7a14809e8180b)
- Lewis et al. Retrieval-Augmented Generation for Knowledge-Intensive NLP Tasks. NeurIPS 2020. https://arxiv.org/abs/2005.11401
- Asai et al. Self-RAG: Learning to Retrieve, Generate, and Critique through Self-Reflection. ICLR 2024. https://arxiv.org/abs/2310.11511
- Yan et al. Corrective Retrieval Augmented Generation. 2024 preprint. https://arxiv.org/abs/2401.15884
- Min et al. FActScore: Fine-grained Atomic Evaluation of Factual Precision in Long Form Text Generation. EMNLP 2023. https://aclanthology.org/2023.emnlp-main.741/</a:t>
            </a:r>
            <a:endParaRPr lang="vi-V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01:15
RQ1 là so sánh chính giữa A1 và G. Hai nhánh khác nhau theo cả gói policy PRE, gồm biểu diễn, readiness gating và cách tạo truy vấn bổ sung. Vì vậy không diễn giải thành tác động nhân quả của một thành phần riêng lẻ. RQ2 so sánh A1 và A0 để khảo sát việc hiển thị câu hỏi gốc tại PRE khi giữ cùng Plan, E0, instruction, schema và gating. Readiness là hành vi của controller, không phải độ chính xác lâm sàng. RQ3 giữ vai trò hỗ trợ giữa A0 và G. Các đóng góp dự kiến kết nối hợp đồng dữ liệu, kiến trúc kiểm chứng hai giai đoạn và kiểm soát hành động với protocol có thể kiểm toán. Tất cả vẫn là câu hỏi và đóng góp cần đánh giá.
Nguồn và giới hạn:
- docs/midterm/content-contract.md (scientific baseline ac4ade796e56377882b8069d0fb7a14809e8180b)
- docs/experimental-design.md; assets/diagrams/05-experimental-arms.svg/.mmd</a:t>
            </a:r>
            <a:endParaRPr lang="vi-V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01:10
Sơ đồ này là bản trình bày native, rút gọn từ hình research framework đã xác minh. Bên trái là nguồn guideline và KOA-GuidelineBench với quy trình quản trị riêng. Ở giữa là phương pháp DV-OGEC-RAG, chỉ nhận các trường runtime nằm trong allowlist. Kết quả đi sang phía đánh giá độc lập cùng thông tin truy vết. Canonical obligations, đáp án tham chiếu và nhãn đánh giá không đi vào suy luận. Task B xét các bundle đã hiển thị cố định. Task C thực hiện truy xuất trên corpus rồi kiểm tra bằng chứng động. Hai task có hợp đồng khác nhau. Việc nối benchmark với runtime không chuyển quyền sở hữu hoặc quyền truy cập đối với tài sản evaluator của benchmark.
Nguồn và giới hạn:
- docs/midterm/content-contract.md (scientific baseline ac4ade796e56377882b8069d0fb7a14809e8180b)
- assets/diagrams/01-research-framework.svg/.mmd; native editable derivative retaining runtime/evaluator separation.</a:t>
            </a:r>
            <a:endParaRPr lang="vi-V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01:15
Corpus rc0.2.0 gồm năm nguồn và 276 EvidenceUnits. Tổng số theo nguồn là 32, 39, 24, 84 và 97. Phiên bản EULAR là bản cập nhật 2023 công bố năm 2024. CURRENT và HISTORICAL chỉ mô tả frozen source registry, không phải đánh giá trực tiếp tính hiện hành của khuyến cáo y khoa hôm nay. Có 170 SemanticIntent metadata records, không phải 170 câu hỏi đã chấm. Task B gồm năm cặp, mười lượt xuất hiện bundle và chín bundle riêng thuộc bốn intents. Bốn intents này chỉ thuộc phạm vi Task B. Task C có 16 ca DEV tiếng Anh cho nghiên cứu E1-v2. Không cộng hai task thành 21 câu hỏi độc lập. rc0.2.0 hiện là internal review candidate, public_release=false.
Nguồn và giới hạn:
- docs/midterm/content-contract.md (scientific baseline ac4ade796e56377882b8069d0fb7a14809e8180b)
- ACSQHC registry: https://www.safetyandquality.gov.au/resources/osteoarthritis-knee-clinical-care-standard-2024
- BYT registry metadata: https://kcb.vn/van-ban/huong-dan-chan-doan-va-dieu-tri-cac-benh-co-xuong-khop.html
- EULAR: https://doi.org/10.1136/ard-2023-225041
- NICE: https://www.nice.org.uk/guidance/ng226/
- VA/DoD frozen registry 2026: https://www.healthquality.va.gov/HEALTHQUALITY/guidelines/CD/OA/index.asp</a:t>
            </a:r>
            <a:endParaRPr lang="vi-V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01:05
BA1-D1 giữ canonical benchmark obligations ở ngoài runtime, còn BA1-D2 chia dữ liệu theo ba mức hiển thị. Cột runtime bao gồm câu hỏi, source scope, evidence hợp lệ và thông tin trích dẫn. Hai cột còn lại là các loại dữ liệu evaluator và audit, chỉ trình bày tên loại, không trình bày nội dung hạn chế. Planner phải dự đoán MaterialObligation từ chính văn bản câu hỏi. Cơ chế input allowlist loại gold và evaluator internals khỏi suy luận. Ngoài ra, nhãn sufficiency của Task B chỉ áp dụng cho bundle cố định của task đó. Không thể lấy nhãn này làm gold cho E0 hoặc E1 được truy xuất động trong E1-v2. Đánh giá độc lập cần một EvaluationContext được cấp quyền riêng.
Nguồn và giới hạn:
- docs/midterm/content-contract.md (scientific baseline ac4ade796e56377882b8069d0fb7a14809e8180b)
- assets/diagrams/04-benchmark-evaluation-boundary.svg/.mmd; native editable derivative.</a:t>
            </a:r>
            <a:endParaRPr lang="vi-V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01:40
DV-OGEC-RAG viết đầy đủ là Dual-Verification Obligation-Guided Evidence-Controlled RAG. Planner nhận câu hỏi và tạo Plan có kiểu, sau đó đóng băng plan identity. Retrieval cục bộ lấy E0 với source filtering trước scoring và lưu provenance trong EvidenceMemory. PRE kiểm tra mức đủ bằng chứng. Nếu thiếu và còn ngân sách, controller cho truy xuất bổ sung tối đa một lần, hợp nhất memory rồi bắt buộc kiểm tra PRE lại. Chỉ PRE đạt mới cho Generator hoạt động. Candidate đi qua Claim Decomposer và staged POST v4. Nếu POST yêu cầu sửa và cho phép sửa, Reviser dùng memory hiện có, tối đa một lần. Hệ thống hủy claims và POST cũ, phân rã và kiểm tra lại. Mỗi hành động có hiệu lực đều qua control plane xác định. ACCEPT, ABSTAIN và FAILED là các loại kết thúc khác nhau, sẽ nói rõ ở slide sau.
Nguồn và giới hạn:
- docs/midterm/content-contract.md (scientific baseline ac4ade796e56377882b8069d0fb7a14809e8180b)
- docs/system-architecture.md; assets/diagrams/02-agentic-rag-architecture.svg/.mmd
- docs/agentic-workflow.md; assets/diagrams/03-controller-state-machine.svg/.mmd
- Native editable derivative of verified Figures 02 and 03. Feedback bounds are upper limits, not mandatory steps.</a:t>
            </a:r>
            <a:endParaRPr lang="vi-V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01:30
Với A0 và A1, PRE trả observation có cấu trúc theo từng obligation. Reducer xác định READY khi mọi nghĩa vụ được COVERED, nguồn hợp lệ và không còn discrepancy chưa giải quyết. Mọi nghĩa vụ trong Plan đều tham gia cổng FULL, kể cả nghĩa vụ planner gắn optional. G dùng boolean sufficiency và generic gaps theo hợp đồng riêng. Nếu chưa đủ và còn lượt, query builder xác định tạo truy vấn theo obligation cho A0/A1 hoặc theo gap cho G. Sau corrective retrieval, E1 hợp nhất vào E0 và PRE phải kiểm tra lại. Không có đường từ corrective retrieval bỏ qua recheck để vào Generator. Nếu cổng vẫn thiếu, controller xin phép ABSTAIN qua guard. Lỗi schema hoặc lỗi truy xuất đi sang FAILED, không tự đổi thành abstention.
Nguồn và giới hạn:
- docs/midterm/content-contract.md (scientific baseline ac4ade796e56377882b8069d0fb7a14809e8180b)
- docs/agentic-workflow.md; assets/diagrams/03-controller-state-machine.svg/.mmd
- assets/diagrams/02-agentic-rag-architecture.svg/.mmd and 03-controller-state-machine.svg/.mmd, native PRE detail.</a:t>
            </a:r>
            <a:endParaRPr lang="vi-V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01:30
Generator tạo candidate có citations phân giải được trong memory, rồi Decomposer tạo claims nguyên tử có kiểu. POST v4 có các bước pair, diagnosis và remedies, tiếp theo là canonical validation xác định. Cổng chấp nhận đòi hỏi mọi claim SUPPORTED, nghĩa vụ ADDRESSED, nguồn và provenance hợp lệ, không có hard failure. Khi NEEDS_REVISION và còn lượt sửa, Reviser chỉ dùng EvidenceMemory hiện có. Không truy xuất trong revision. Claims và POST cũ bị hủy, câu trả lời mới phải qua decomposition và POST mới. Control plane gồm ValidActionSet, deterministic RulesPolicy, PolicyGuard và Executor. Guard kiểm tra mọi action có hiệu lực, không chỉ ACCEPT. ACCEPT ánh xạ COMPLETED_ANSWER, ABSTAIN ánh xạ COMPLETED_ABSTAIN. Lỗi provider, schema, retrieval hoặc guard rejection là FAILED_*, tách khỏi abstention. Model confidence không được vượt hard guard.
Nguồn và giới hạn:
- docs/midterm/content-contract.md (scientific baseline ac4ade796e56377882b8069d0fb7a14809e8180b)
- docs/agentic-workflow.md; assets/diagrams/03-controller-state-machine.svg/.mmd
- Kamath et al. Selective Question Answering under Domain Shift. ACL 2020. https://aclanthology.org/2020.acl-main.503/
- Terminal mapping: ACCEPT=COMPLETED_ANSWER; ABSTAIN=COMPLETED_ABSTAIN; technical errors=FAILED_*. Guard rejection is FAILED_CONTRACT.</a:t>
            </a:r>
            <a:endParaRPr lang="vi-V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01:40
Mỗi question-replicate block gọi Planner và initial retrieval một lần, khóa cùng Plan, E0 và source scope trước khi chia ba nhánh. A0 thấy Plan và E0 tại PRE nhưng không thấy câu hỏi gốc. A1 thêm câu hỏi gốc với cùng FULL instruction, schema và gating. G thấy câu hỏi, E0, public SourcePolicy và prior generic gaps, không nhận Plan ở PRE. Sau PRE, G nhận lại chính Plan chung cho generation, decomposition, POST, revision và guard. So sánh chính là A1 với G, ablation là A1 với A0, hỗ trợ là A0 với G. Protocol dùng sáu hoán vị thứ tự luân phiên, mỗi hoán vị tám block. Đây là counterbalancing xác định. Phân tích tổng hợp theo câu hỏi với replicates lồng bên trong, không coi 144 cells là 144 câu hỏi. A1/G là so sánh cả gói policy.
Nguồn và giới hạn:
- docs/midterm/content-contract.md (scientific baseline ac4ade796e56377882b8069d0fb7a14809e8180b)
- docs/experimental-design.md; assets/diagrams/05-experimental-arms.svg/.mmd
- Native table derived from assets/diagrams/05-experimental-arms.svg/.mmd. Planned comparisons remain unexecuted on real providers at admitted baseline.</a:t>
            </a:r>
            <a:endParaRPr lang="vi-V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01:15
Retrieval chạy cục bộ với hai encoder MedCPT đã pin và FAISS IndexFlatIP. Index có 276 vectors, 768 chiều, float32 CPU, top-k bằng tám và không dùng reranker. Source filtering diễn ra trước scoring. Các vai trò giao tiếp qua contracts có kiểu, còn RunStore giữ version identities và provenance để tái lập. Budget được reserve trước request dispatch. Một cận trên của pipeline là 34 physical LLM requests mỗi arm cell, cộng một Planner request dùng chung mỗi block. Đây là trần accounting, không phải chi phí thông thường đã đo. Jev vẫn tùy chọn và waitlist, nằm ngoài integration và kết quả đủ điều kiện. Protocol dự kiến bootstrap question-cluster 20.000 lần, seed 401, nhưng chỉ cho qualified LIVE đủ gates. MOCK có contrasts và confidence intervals bằng null.
Nguồn và giới hạn:
- docs/midterm/content-contract.md (scientific baseline ac4ade796e56377882b8069d0fb7a14809e8180b)
- docs/system-architecture.md; assets/diagrams/02-agentic-rag-architecture.svg/.mmd
- docs/experimental-design.md; assets/diagrams/05-experimental-arms.svg/.mmd
- Jin et al. MedCPT: Contrastive Pre-trained Transformers with Large-scale PubMed Search Logs for Zero-shot Biomedical Information Retrieval. Bioinformatics 2023;39(11):btad651. https://doi.org/10.1093/bioinformatics/btad651
- Johnson et al. Billion-Scale Similarity Search with GPUs. IEEE TBD 2021;7(3):535-547. https://arxiv.org/abs/1702.08734
- Planned bootstrap is not executed for this authoring task. No dependency installation or model/provider calls.</a:t>
            </a:r>
            <a:endParaRPr lang="vi-V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01:35
Bảng là các receipt đã có tại baseline, không phải tests chạy lại khi làm slide. MOCK pilot hoàn tất chín trên chín cells với ba preparations. MOCK full hoàn tất 144 cells với 48 preparations. Fake SDK điều khiển nhánh correction và revision trên retrieval và controller thật. Counts đối xứng giữa các nhánh được script sẵn, không chứng minh ngang bằng hoặc ưu thế về y khoa. Critical selection có 129 trên 129 PASS, không fail, error hoặc skip. Regression là composite PARTIAL với 103 trên 109 modules, 1.400 PASS, 21 SKIP và sáu modules chưa chạy vì resource admission. SKIP không phải PASS. E1-v2 real provider vẫn NOT_EXECUTED. Clinical-quality scoring là NOT_EVALUABLE vì có 0 trên 16 public items đủ điều kiện, không phải độ chính xác 0 phần trăm. Không có biểu đồ chất lượng lâm sàng từ số test này.
Nguồn và giới hạn:
- docs/midterm/content-contract.md (scientific baseline ac4ade796e56377882b8069d0fb7a14809e8180b)
- docs/current-results.md; baseline aggregate receipts qualification/reports/koa_final_closure/
- closure-pilot-final.receipt.json; closure-parent-final.receipt.json; closure-critical-final.tests.json; regression-reconciled.json. These are existing baseline receipts, not rerun in artifact production.</a:t>
            </a:r>
            <a:endParaRPr lang="vi-V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01:15
Thiết kế hiện có nhiều giới hạn: tập DEV nhỏ, đã có lịch sử hiệu chỉnh DEV, quan hệ giữa intents hoặc cases chưa cho phép khẳng định độc lập lâm sàng, gating chịu ảnh hưởng cách Planner dự đoán nghĩa vụ, và giới hạn ngôn ngữ của retrieval. So sánh A1/G còn gộp nhiều khác biệt trong policy. Milestone kỹ thuật kế tiếp đã xác định là hoàn thành sáu qualification modules bị resource-blocked trên host có ít nhất ba GiB Windows commit headroom, đồng thời giữ kiểm tra baseline và version. Các bước sau như provider và financial readiness, LIVE pilot, full E1-v2 và owner scoring là những gate riêng cần cấp quyền đúng phạm vi. Quyền biên soạn báo cáo hiện tại không tự kích hoạt chúng. License và khả năng redistribution guideline vẫn UNVERIFIED, nên bản công bố chỉ dùng metadata cùng aggregate đã làm sạch.
Nguồn và giới hạn:
- docs/midterm/content-contract.md (scientific baseline ac4ade796e56377882b8069d0fb7a14809e8180b)
- docs/current-results.md; baseline aggregate receipts qualification/reports/koa_final_closure/
- Six pending modules: test_e1_recovery; test_e1_rolling_accounting; test_e1_v2; test_e1_v2_release; test_i5_real_construction; test_koa_system.</a:t>
            </a:r>
            <a:endParaRPr lang="vi-V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t>Thời lượng gợi ý: 00:35
Kết quả giữa kỳ là framework có kiểu, hai cổng kiểm chứng, hai vòng phản hồi bị chặn số lần và control plane xác định, đi cùng protocol ba nhánh có thể kiểm toán. MOCK cho bằng chứng vận hành kỹ thuật và khả năng đi qua các nhánh. Các câu hỏi RQ1 đến RQ3 vẫn cần thực thi đủ điều kiện và đánh giá độc lập trước khi có kết luận về chất lượng. Điểm muốn trao đổi là độ phù hợp của nghĩa vụ do Planner dự đoán, ranh giới đánh giá snapshot bằng chứng động và cách xây dựng scoring context đủ quyền trong giai đoạn sau.
Nguồn và giới hạn:
- docs/midterm/content-contract.md (scientific baseline ac4ade796e56377882b8069d0fb7a14809e8180b)
- docs/system-architecture.md; assets/diagrams/02-agentic-rag-architecture.svg/.mmd
- docs/agentic-workflow.md; assets/diagrams/03-controller-state-machine.svg/.mmd
- docs/experimental-design.md; assets/diagrams/05-experimental-arms.svg/.mmd
- docs/current-results.md; baseline aggregate receipts qualification/reports/koa_final_closure/</a:t>
            </a:r>
            <a:endParaRPr lang="vi-VN"/>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Text Box 2"/>
          <p:cNvSpPr txBox="1"/>
          <p:nvPr/>
        </p:nvSpPr>
        <p:spPr>
          <a:xfrm>
            <a:off x="571500" y="596900"/>
            <a:ext cx="9144000" cy="457200"/>
          </a:xfrm>
          <a:prstGeom prst="rect">
            <a:avLst/>
          </a:prstGeom>
          <a:noFill/>
        </p:spPr>
        <p:txBody>
          <a:bodyPr wrap="square" lIns="0" tIns="0" rIns="0" bIns="0" rtlCol="0" anchor="t">
            <a:noAutofit/>
          </a:bodyPr>
          <a:p>
            <a:pPr algn="l">
              <a:lnSpc>
                <a:spcPct val="104000"/>
              </a:lnSpc>
              <a:spcBef>
                <a:spcPts val="0"/>
              </a:spcBef>
              <a:spcAft>
                <a:spcPts val="0"/>
              </a:spcAft>
            </a:pPr>
            <a:r>
              <a:rPr lang="vi-VN" sz="2400" b="1">
                <a:solidFill>
                  <a:srgbClr val="194B93"/>
                </a:solidFill>
                <a:latin typeface="Arial" panose="020B0604020202020204" pitchFamily="34" charset="0"/>
                <a:cs typeface="Arial" panose="020B0604020202020204" pitchFamily="34" charset="0"/>
              </a:rPr>
              <a:t>TRƯỜNG ĐẠI HỌC TÔN ĐỨC THẮNG</a:t>
            </a:r>
            <a:endParaRPr lang="vi-VN" sz="2400" b="1">
              <a:solidFill>
                <a:srgbClr val="194B93"/>
              </a:solidFill>
              <a:latin typeface="Arial" panose="020B0604020202020204" pitchFamily="34" charset="0"/>
              <a:cs typeface="Arial" panose="020B0604020202020204" pitchFamily="34" charset="0"/>
            </a:endParaRPr>
          </a:p>
        </p:txBody>
      </p:sp>
      <p:pic>
        <p:nvPicPr>
          <p:cNvPr id="4" name="Picture 3" descr="tdtu-footer-official"/>
          <p:cNvPicPr>
            <a:picLocks noChangeAspect="1"/>
          </p:cNvPicPr>
          <p:nvPr/>
        </p:nvPicPr>
        <p:blipFill>
          <a:blip r:embed="rId1"/>
          <a:stretch>
            <a:fillRect/>
          </a:stretch>
        </p:blipFill>
        <p:spPr>
          <a:xfrm>
            <a:off x="10363200" y="508000"/>
            <a:ext cx="1270000" cy="1270000"/>
          </a:xfrm>
          <a:prstGeom prst="rect">
            <a:avLst/>
          </a:prstGeom>
        </p:spPr>
      </p:pic>
      <p:sp>
        <p:nvSpPr>
          <p:cNvPr id="5" name="Text Box 4"/>
          <p:cNvSpPr txBox="1"/>
          <p:nvPr/>
        </p:nvSpPr>
        <p:spPr>
          <a:xfrm>
            <a:off x="571500" y="1752600"/>
            <a:ext cx="10922000" cy="406400"/>
          </a:xfrm>
          <a:prstGeom prst="rect">
            <a:avLst/>
          </a:prstGeom>
          <a:noFill/>
        </p:spPr>
        <p:txBody>
          <a:bodyPr wrap="square" lIns="0" tIns="0" rIns="0" bIns="0" rtlCol="0" anchor="t">
            <a:noAutofit/>
          </a:bodyPr>
          <a:p>
            <a:pPr algn="l">
              <a:lnSpc>
                <a:spcPct val="104000"/>
              </a:lnSpc>
              <a:spcBef>
                <a:spcPts val="0"/>
              </a:spcBef>
              <a:spcAft>
                <a:spcPts val="0"/>
              </a:spcAft>
            </a:pPr>
            <a:r>
              <a:rPr lang="vi-VN" b="1">
                <a:solidFill>
                  <a:srgbClr val="506074"/>
                </a:solidFill>
                <a:latin typeface="Arial" panose="020B0604020202020204" pitchFamily="34" charset="0"/>
                <a:cs typeface="Arial" panose="020B0604020202020204" pitchFamily="34" charset="0"/>
              </a:rPr>
              <a:t>BÁO CÁO GIỮA KỲ NGHIÊN CỨU</a:t>
            </a:r>
            <a:endParaRPr lang="vi-VN" b="1">
              <a:solidFill>
                <a:srgbClr val="506074"/>
              </a:solidFill>
              <a:latin typeface="Arial" panose="020B0604020202020204" pitchFamily="34" charset="0"/>
              <a:cs typeface="Arial" panose="020B0604020202020204" pitchFamily="34" charset="0"/>
            </a:endParaRPr>
          </a:p>
        </p:txBody>
      </p:sp>
      <p:sp>
        <p:nvSpPr>
          <p:cNvPr id="6" name="Deck title"/>
          <p:cNvSpPr txBox="1"/>
          <p:nvPr/>
        </p:nvSpPr>
        <p:spPr>
          <a:xfrm>
            <a:off x="571500" y="2413000"/>
            <a:ext cx="11049000" cy="825500"/>
          </a:xfrm>
          <a:prstGeom prst="rect">
            <a:avLst/>
          </a:prstGeom>
          <a:noFill/>
        </p:spPr>
        <p:txBody>
          <a:bodyPr wrap="square" lIns="0" tIns="0" rIns="0" bIns="0" rtlCol="0" anchor="t">
            <a:noAutofit/>
          </a:bodyPr>
          <a:p>
            <a:pPr algn="l">
              <a:lnSpc>
                <a:spcPct val="104000"/>
              </a:lnSpc>
              <a:spcBef>
                <a:spcPts val="0"/>
              </a:spcBef>
              <a:spcAft>
                <a:spcPts val="0"/>
              </a:spcAft>
            </a:pPr>
            <a:r>
              <a:rPr lang="vi-VN" sz="4400" b="1">
                <a:solidFill>
                  <a:srgbClr val="194B93"/>
                </a:solidFill>
                <a:latin typeface="Arial" panose="020B0604020202020204" pitchFamily="34" charset="0"/>
                <a:cs typeface="Arial" panose="020B0604020202020204" pitchFamily="34" charset="0"/>
              </a:rPr>
              <a:t>KOA Agentic-RAG System</a:t>
            </a:r>
            <a:endParaRPr lang="vi-VN" sz="4400" b="1">
              <a:solidFill>
                <a:srgbClr val="194B93"/>
              </a:solidFill>
              <a:latin typeface="Arial" panose="020B0604020202020204" pitchFamily="34" charset="0"/>
              <a:cs typeface="Arial" panose="020B0604020202020204" pitchFamily="34" charset="0"/>
            </a:endParaRPr>
          </a:p>
        </p:txBody>
      </p:sp>
      <p:sp>
        <p:nvSpPr>
          <p:cNvPr id="7" name="Text Box 6"/>
          <p:cNvSpPr txBox="1"/>
          <p:nvPr/>
        </p:nvSpPr>
        <p:spPr>
          <a:xfrm>
            <a:off x="571500" y="3429000"/>
            <a:ext cx="10795000" cy="1016000"/>
          </a:xfrm>
          <a:prstGeom prst="rect">
            <a:avLst/>
          </a:prstGeom>
          <a:noFill/>
        </p:spPr>
        <p:txBody>
          <a:bodyPr wrap="square" lIns="0" tIns="0" rIns="0" bIns="0" rtlCol="0" anchor="t">
            <a:noAutofit/>
          </a:bodyPr>
          <a:p>
            <a:pPr algn="l">
              <a:lnSpc>
                <a:spcPct val="104000"/>
              </a:lnSpc>
              <a:spcBef>
                <a:spcPts val="0"/>
              </a:spcBef>
              <a:spcAft>
                <a:spcPts val="0"/>
              </a:spcAft>
            </a:pPr>
            <a:r>
              <a:rPr lang="vi-VN" sz="2400">
                <a:solidFill>
                  <a:srgbClr val="172B43"/>
                </a:solidFill>
                <a:latin typeface="Arial" panose="020B0604020202020204" pitchFamily="34" charset="0"/>
                <a:cs typeface="Arial" panose="020B0604020202020204" pitchFamily="34" charset="0"/>
              </a:rPr>
              <a:t>Evidence-Grounded Agentic Retrieval-Augmented Generation
for Knee Osteoarthritis Clinical Guidelines</a:t>
            </a:r>
            <a:endParaRPr lang="vi-VN" sz="2400">
              <a:solidFill>
                <a:srgbClr val="172B43"/>
              </a:solidFill>
              <a:latin typeface="Arial" panose="020B0604020202020204" pitchFamily="34" charset="0"/>
              <a:cs typeface="Arial" panose="020B0604020202020204" pitchFamily="34" charset="0"/>
            </a:endParaRPr>
          </a:p>
        </p:txBody>
      </p:sp>
      <p:cxnSp>
        <p:nvCxnSpPr>
          <p:cNvPr id="8" name="Straight Connector 7"/>
          <p:cNvCxnSpPr/>
          <p:nvPr/>
        </p:nvCxnSpPr>
        <p:spPr>
          <a:xfrm>
            <a:off x="571500" y="4889500"/>
            <a:ext cx="1333500" cy="635"/>
          </a:xfrm>
          <a:prstGeom prst="line">
            <a:avLst/>
          </a:prstGeom>
          <a:ln w="38100">
            <a:solidFill>
              <a:srgbClr val="D5222A"/>
            </a:solidFill>
          </a:ln>
        </p:spPr>
        <p:style>
          <a:lnRef idx="2">
            <a:schemeClr val="accent1"/>
          </a:lnRef>
          <a:fillRef idx="0">
            <a:srgbClr val="FFFFFF"/>
          </a:fillRef>
          <a:effectRef idx="0">
            <a:srgbClr val="FFFFFF"/>
          </a:effectRef>
          <a:fontRef idx="minor">
            <a:schemeClr val="tx1"/>
          </a:fontRef>
        </p:style>
      </p:cxnSp>
      <p:sp>
        <p:nvSpPr>
          <p:cNvPr id="9" name="Text Box 8"/>
          <p:cNvSpPr txBox="1"/>
          <p:nvPr/>
        </p:nvSpPr>
        <p:spPr>
          <a:xfrm>
            <a:off x="571500" y="5194300"/>
            <a:ext cx="8890000" cy="762000"/>
          </a:xfrm>
          <a:prstGeom prst="rect">
            <a:avLst/>
          </a:prstGeom>
          <a:noFill/>
        </p:spPr>
        <p:txBody>
          <a:bodyPr wrap="square" lIns="0" tIns="0" rIns="0" bIns="0" rtlCol="0" anchor="t">
            <a:noAutofit/>
          </a:bodyPr>
          <a:p>
            <a:pPr algn="l">
              <a:lnSpc>
                <a:spcPct val="104000"/>
              </a:lnSpc>
              <a:spcBef>
                <a:spcPts val="0"/>
              </a:spcBef>
              <a:spcAft>
                <a:spcPts val="0"/>
              </a:spcAft>
            </a:pPr>
            <a:r>
              <a:rPr lang="vi-VN" sz="2200">
                <a:solidFill>
                  <a:srgbClr val="172B43"/>
                </a:solidFill>
                <a:latin typeface="Arial" panose="020B0604020202020204" pitchFamily="34" charset="0"/>
                <a:cs typeface="Arial" panose="020B0604020202020204" pitchFamily="34" charset="0"/>
              </a:rPr>
              <a:t>Phạm Hồng Đăng Khoa
Nguyễn Hoàng Khang</a:t>
            </a:r>
            <a:endParaRPr lang="vi-VN" sz="2200">
              <a:solidFill>
                <a:srgbClr val="172B43"/>
              </a:solidFill>
              <a:latin typeface="Arial" panose="020B0604020202020204" pitchFamily="34" charset="0"/>
              <a:cs typeface="Arial" panose="020B0604020202020204" pitchFamily="34" charset="0"/>
            </a:endParaRPr>
          </a:p>
        </p:txBody>
      </p:sp>
      <p:sp>
        <p:nvSpPr>
          <p:cNvPr id="10" name="Text Box 9"/>
          <p:cNvSpPr txBox="1"/>
          <p:nvPr/>
        </p:nvSpPr>
        <p:spPr>
          <a:xfrm>
            <a:off x="571500" y="6096000"/>
            <a:ext cx="10922000" cy="254000"/>
          </a:xfrm>
          <a:prstGeom prst="rect">
            <a:avLst/>
          </a:prstGeom>
          <a:noFill/>
        </p:spPr>
        <p:txBody>
          <a:bodyPr wrap="square" lIns="0" tIns="0" rIns="0" bIns="0" rtlCol="0" anchor="t">
            <a:noAutofit/>
          </a:bodyPr>
          <a:p>
            <a:pPr algn="l">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Scientific snapshot: ac4ade7     E1-v2 prospective protocol</a:t>
            </a:r>
            <a:endParaRPr lang="vi-VN" sz="1200">
              <a:solidFill>
                <a:srgbClr val="506074"/>
              </a:solidFill>
              <a:latin typeface="Arial" panose="020B0604020202020204" pitchFamily="34" charset="0"/>
              <a:cs typeface="Arial" panose="020B0604020202020204" pitchFamily="34" charset="0"/>
            </a:endParaRPr>
          </a:p>
        </p:txBody>
      </p:sp>
      <p:sp>
        <p:nvSpPr>
          <p:cNvPr id="11" name="Text Box 10"/>
          <p:cNvSpPr txBox="1"/>
          <p:nvPr/>
        </p:nvSpPr>
        <p:spPr>
          <a:xfrm>
            <a:off x="571500" y="64516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TDTU-inspired academic theme</a:t>
            </a:r>
            <a:endParaRPr lang="vi-VN" sz="1120">
              <a:solidFill>
                <a:srgbClr val="506074"/>
              </a:solidFill>
              <a:latin typeface="Arial" panose="020B0604020202020204" pitchFamily="34" charset="0"/>
              <a:cs typeface="Arial" panose="020B0604020202020204" pitchFamily="34" charset="0"/>
            </a:endParaRPr>
          </a:p>
        </p:txBody>
      </p:sp>
      <p:sp>
        <p:nvSpPr>
          <p:cNvPr id="12" name="Text Box 11"/>
          <p:cNvSpPr txBox="1"/>
          <p:nvPr/>
        </p:nvSpPr>
        <p:spPr>
          <a:xfrm>
            <a:off x="10947400" y="64389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01 / 15</a:t>
            </a:r>
            <a:endParaRPr lang="vi-VN" sz="1200">
              <a:solidFill>
                <a:srgbClr val="506074"/>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Yêu cầu của QA trên guideline KOA</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Nguồn: content contract §3; Lewis et al. (2020); Xiong et al. (2024)</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02 / 15</a:t>
            </a:r>
            <a:endParaRPr lang="vi-VN" sz="1200">
              <a:solidFill>
                <a:srgbClr val="506074"/>
              </a:solidFill>
              <a:latin typeface="Arial" panose="020B0604020202020204" pitchFamily="34" charset="0"/>
              <a:cs typeface="Arial" panose="020B0604020202020204" pitchFamily="34" charset="0"/>
            </a:endParaRPr>
          </a:p>
        </p:txBody>
      </p:sp>
      <p:sp>
        <p:nvSpPr>
          <p:cNvPr id="7" name="Rectangle 6"/>
          <p:cNvSpPr/>
          <p:nvPr/>
        </p:nvSpPr>
        <p:spPr>
          <a:xfrm>
            <a:off x="571500" y="1625600"/>
            <a:ext cx="3111500" cy="11176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400">
                <a:solidFill>
                  <a:srgbClr val="172B43"/>
                </a:solidFill>
                <a:latin typeface="Arial" panose="020B0604020202020204" pitchFamily="34" charset="0"/>
                <a:cs typeface="Arial" panose="020B0604020202020204" pitchFamily="34" charset="0"/>
              </a:rPr>
              <a:t>Câu hỏi về
guideline</a:t>
            </a:r>
            <a:endParaRPr lang="vi-VN" sz="2400">
              <a:solidFill>
                <a:srgbClr val="172B43"/>
              </a:solidFill>
              <a:latin typeface="Arial" panose="020B0604020202020204" pitchFamily="34" charset="0"/>
              <a:cs typeface="Arial" panose="020B0604020202020204" pitchFamily="34" charset="0"/>
            </a:endParaRPr>
          </a:p>
        </p:txBody>
      </p:sp>
      <p:sp>
        <p:nvSpPr>
          <p:cNvPr id="8" name="Rectangle 7"/>
          <p:cNvSpPr/>
          <p:nvPr/>
        </p:nvSpPr>
        <p:spPr>
          <a:xfrm>
            <a:off x="4533900" y="1625600"/>
            <a:ext cx="3111500" cy="11176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400">
                <a:solidFill>
                  <a:srgbClr val="172B43"/>
                </a:solidFill>
                <a:latin typeface="Arial" panose="020B0604020202020204" pitchFamily="34" charset="0"/>
                <a:cs typeface="Arial" panose="020B0604020202020204" pitchFamily="34" charset="0"/>
              </a:rPr>
              <a:t>Đoạn bằng chứng
liên quan</a:t>
            </a:r>
            <a:endParaRPr lang="vi-VN" sz="2400">
              <a:solidFill>
                <a:srgbClr val="172B43"/>
              </a:solidFill>
              <a:latin typeface="Arial" panose="020B0604020202020204" pitchFamily="34" charset="0"/>
              <a:cs typeface="Arial" panose="020B0604020202020204" pitchFamily="34" charset="0"/>
            </a:endParaRPr>
          </a:p>
        </p:txBody>
      </p:sp>
      <p:sp>
        <p:nvSpPr>
          <p:cNvPr id="9" name="Rectangle 8"/>
          <p:cNvSpPr/>
          <p:nvPr/>
        </p:nvSpPr>
        <p:spPr>
          <a:xfrm>
            <a:off x="8509000" y="1625600"/>
            <a:ext cx="3111500" cy="11176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400">
                <a:solidFill>
                  <a:srgbClr val="172B43"/>
                </a:solidFill>
                <a:latin typeface="Arial" panose="020B0604020202020204" pitchFamily="34" charset="0"/>
                <a:cs typeface="Arial" panose="020B0604020202020204" pitchFamily="34" charset="0"/>
              </a:rPr>
              <a:t>Câu trả lời
đủ căn cứ?</a:t>
            </a:r>
            <a:endParaRPr lang="vi-VN" sz="2400">
              <a:solidFill>
                <a:srgbClr val="172B43"/>
              </a:solidFill>
              <a:latin typeface="Arial" panose="020B0604020202020204" pitchFamily="34" charset="0"/>
              <a:cs typeface="Arial" panose="020B0604020202020204" pitchFamily="34" charset="0"/>
            </a:endParaRPr>
          </a:p>
        </p:txBody>
      </p:sp>
      <p:cxnSp>
        <p:nvCxnSpPr>
          <p:cNvPr id="10" name="Straight Connector 9"/>
          <p:cNvCxnSpPr/>
          <p:nvPr/>
        </p:nvCxnSpPr>
        <p:spPr>
          <a:xfrm>
            <a:off x="3683000" y="2184400"/>
            <a:ext cx="8509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cxnSp>
        <p:nvCxnSpPr>
          <p:cNvPr id="11" name="Straight Connector 10"/>
          <p:cNvCxnSpPr/>
          <p:nvPr/>
        </p:nvCxnSpPr>
        <p:spPr>
          <a:xfrm>
            <a:off x="7645400" y="2184400"/>
            <a:ext cx="8636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12" name="Text Box 11"/>
          <p:cNvSpPr txBox="1"/>
          <p:nvPr/>
        </p:nvSpPr>
        <p:spPr>
          <a:xfrm>
            <a:off x="571500" y="3276600"/>
            <a:ext cx="11049000" cy="431800"/>
          </a:xfrm>
          <a:prstGeom prst="rect">
            <a:avLst/>
          </a:prstGeom>
          <a:noFill/>
        </p:spPr>
        <p:txBody>
          <a:bodyPr wrap="square" lIns="0" tIns="0" rIns="0" bIns="0" rtlCol="0" anchor="t">
            <a:noAutofit/>
          </a:bodyPr>
          <a:p>
            <a:pPr algn="l">
              <a:lnSpc>
                <a:spcPct val="104000"/>
              </a:lnSpc>
              <a:spcBef>
                <a:spcPts val="0"/>
              </a:spcBef>
              <a:spcAft>
                <a:spcPts val="0"/>
              </a:spcAft>
            </a:pPr>
            <a:r>
              <a:rPr lang="vi-VN" sz="2500" b="1">
                <a:solidFill>
                  <a:srgbClr val="194B93"/>
                </a:solidFill>
                <a:latin typeface="Arial" panose="020B0604020202020204" pitchFamily="34" charset="0"/>
                <a:cs typeface="Arial" panose="020B0604020202020204" pitchFamily="34" charset="0"/>
              </a:rPr>
              <a:t>Các điều kiện cần kiểm chứng</a:t>
            </a:r>
            <a:endParaRPr lang="vi-VN" sz="2500" b="1">
              <a:solidFill>
                <a:srgbClr val="194B93"/>
              </a:solidFill>
              <a:latin typeface="Arial" panose="020B0604020202020204" pitchFamily="34" charset="0"/>
              <a:cs typeface="Arial" panose="020B0604020202020204" pitchFamily="34" charset="0"/>
            </a:endParaRPr>
          </a:p>
        </p:txBody>
      </p:sp>
      <p:sp>
        <p:nvSpPr>
          <p:cNvPr id="13" name="Text Box 12"/>
          <p:cNvSpPr txBox="1"/>
          <p:nvPr/>
        </p:nvSpPr>
        <p:spPr>
          <a:xfrm>
            <a:off x="571500" y="3975100"/>
            <a:ext cx="2032000" cy="393700"/>
          </a:xfrm>
          <a:prstGeom prst="rect">
            <a:avLst/>
          </a:prstGeom>
          <a:noFill/>
        </p:spPr>
        <p:txBody>
          <a:bodyPr wrap="square" lIns="0" tIns="0" rIns="0" bIns="0" rtlCol="0" anchor="t">
            <a:noAutofit/>
          </a:bodyPr>
          <a:p>
            <a:pPr algn="l">
              <a:lnSpc>
                <a:spcPct val="104000"/>
              </a:lnSpc>
              <a:spcBef>
                <a:spcPts val="0"/>
              </a:spcBef>
              <a:spcAft>
                <a:spcPts val="0"/>
              </a:spcAft>
            </a:pPr>
            <a:r>
              <a:rPr lang="vi-VN" sz="2200" b="1">
                <a:solidFill>
                  <a:srgbClr val="194B93"/>
                </a:solidFill>
                <a:latin typeface="Arial" panose="020B0604020202020204" pitchFamily="34" charset="0"/>
                <a:cs typeface="Arial" panose="020B0604020202020204" pitchFamily="34" charset="0"/>
              </a:rPr>
              <a:t>Nguồn</a:t>
            </a:r>
            <a:endParaRPr lang="vi-VN" sz="2200" b="1">
              <a:solidFill>
                <a:srgbClr val="194B93"/>
              </a:solidFill>
              <a:latin typeface="Arial" panose="020B0604020202020204" pitchFamily="34" charset="0"/>
              <a:cs typeface="Arial" panose="020B0604020202020204" pitchFamily="34" charset="0"/>
            </a:endParaRPr>
          </a:p>
        </p:txBody>
      </p:sp>
      <p:sp>
        <p:nvSpPr>
          <p:cNvPr id="14" name="Text Box 13"/>
          <p:cNvSpPr txBox="1"/>
          <p:nvPr/>
        </p:nvSpPr>
        <p:spPr>
          <a:xfrm>
            <a:off x="2794000" y="3975100"/>
            <a:ext cx="8826500" cy="495300"/>
          </a:xfrm>
          <a:prstGeom prst="rect">
            <a:avLst/>
          </a:prstGeom>
          <a:noFill/>
        </p:spPr>
        <p:txBody>
          <a:bodyPr wrap="square" lIns="0" tIns="0" rIns="0" bIns="0" rtlCol="0" anchor="t">
            <a:noAutofit/>
          </a:bodyPr>
          <a:p>
            <a:pPr algn="l">
              <a:lnSpc>
                <a:spcPct val="104000"/>
              </a:lnSpc>
              <a:spcBef>
                <a:spcPts val="0"/>
              </a:spcBef>
              <a:spcAft>
                <a:spcPts val="0"/>
              </a:spcAft>
            </a:pPr>
            <a:r>
              <a:rPr lang="vi-VN" sz="2200">
                <a:solidFill>
                  <a:srgbClr val="172B43"/>
                </a:solidFill>
                <a:latin typeface="Arial" panose="020B0604020202020204" pitchFamily="34" charset="0"/>
                <a:cs typeface="Arial" panose="020B0604020202020204" pitchFamily="34" charset="0"/>
              </a:rPr>
              <a:t>Phù hợp phạm vi và phiên bản đã khóa</a:t>
            </a:r>
            <a:endParaRPr lang="vi-VN" sz="2200">
              <a:solidFill>
                <a:srgbClr val="172B43"/>
              </a:solidFill>
              <a:latin typeface="Arial" panose="020B0604020202020204" pitchFamily="34" charset="0"/>
              <a:cs typeface="Arial" panose="020B0604020202020204" pitchFamily="34" charset="0"/>
            </a:endParaRPr>
          </a:p>
        </p:txBody>
      </p:sp>
      <p:sp>
        <p:nvSpPr>
          <p:cNvPr id="15" name="Text Box 14"/>
          <p:cNvSpPr txBox="1"/>
          <p:nvPr/>
        </p:nvSpPr>
        <p:spPr>
          <a:xfrm>
            <a:off x="571500" y="4648200"/>
            <a:ext cx="2032000" cy="393700"/>
          </a:xfrm>
          <a:prstGeom prst="rect">
            <a:avLst/>
          </a:prstGeom>
          <a:noFill/>
        </p:spPr>
        <p:txBody>
          <a:bodyPr wrap="square" lIns="0" tIns="0" rIns="0" bIns="0" rtlCol="0" anchor="t">
            <a:noAutofit/>
          </a:bodyPr>
          <a:p>
            <a:pPr algn="l">
              <a:lnSpc>
                <a:spcPct val="104000"/>
              </a:lnSpc>
              <a:spcBef>
                <a:spcPts val="0"/>
              </a:spcBef>
              <a:spcAft>
                <a:spcPts val="0"/>
              </a:spcAft>
            </a:pPr>
            <a:r>
              <a:rPr lang="vi-VN" sz="2200" b="1">
                <a:solidFill>
                  <a:srgbClr val="194B93"/>
                </a:solidFill>
                <a:latin typeface="Arial" panose="020B0604020202020204" pitchFamily="34" charset="0"/>
                <a:cs typeface="Arial" panose="020B0604020202020204" pitchFamily="34" charset="0"/>
              </a:rPr>
              <a:t>Nội dung</a:t>
            </a:r>
            <a:endParaRPr lang="vi-VN" sz="2200" b="1">
              <a:solidFill>
                <a:srgbClr val="194B93"/>
              </a:solidFill>
              <a:latin typeface="Arial" panose="020B0604020202020204" pitchFamily="34" charset="0"/>
              <a:cs typeface="Arial" panose="020B0604020202020204" pitchFamily="34" charset="0"/>
            </a:endParaRPr>
          </a:p>
        </p:txBody>
      </p:sp>
      <p:sp>
        <p:nvSpPr>
          <p:cNvPr id="16" name="Text Box 15"/>
          <p:cNvSpPr txBox="1"/>
          <p:nvPr/>
        </p:nvSpPr>
        <p:spPr>
          <a:xfrm>
            <a:off x="2794000" y="4648200"/>
            <a:ext cx="8826500" cy="495300"/>
          </a:xfrm>
          <a:prstGeom prst="rect">
            <a:avLst/>
          </a:prstGeom>
          <a:noFill/>
        </p:spPr>
        <p:txBody>
          <a:bodyPr wrap="square" lIns="0" tIns="0" rIns="0" bIns="0" rtlCol="0" anchor="t">
            <a:noAutofit/>
          </a:bodyPr>
          <a:p>
            <a:pPr algn="l">
              <a:lnSpc>
                <a:spcPct val="104000"/>
              </a:lnSpc>
              <a:spcBef>
                <a:spcPts val="0"/>
              </a:spcBef>
              <a:spcAft>
                <a:spcPts val="0"/>
              </a:spcAft>
            </a:pPr>
            <a:r>
              <a:rPr lang="vi-VN" sz="2200">
                <a:solidFill>
                  <a:srgbClr val="172B43"/>
                </a:solidFill>
                <a:latin typeface="Arial" panose="020B0604020202020204" pitchFamily="34" charset="0"/>
                <a:cs typeface="Arial" panose="020B0604020202020204" pitchFamily="34" charset="0"/>
              </a:rPr>
              <a:t>Bao phủ các nghĩa vụ thông tin từ câu hỏi</a:t>
            </a:r>
            <a:endParaRPr lang="vi-VN" sz="2200">
              <a:solidFill>
                <a:srgbClr val="172B43"/>
              </a:solidFill>
              <a:latin typeface="Arial" panose="020B0604020202020204" pitchFamily="34" charset="0"/>
              <a:cs typeface="Arial" panose="020B0604020202020204" pitchFamily="34" charset="0"/>
            </a:endParaRPr>
          </a:p>
        </p:txBody>
      </p:sp>
      <p:sp>
        <p:nvSpPr>
          <p:cNvPr id="17" name="Text Box 16"/>
          <p:cNvSpPr txBox="1"/>
          <p:nvPr/>
        </p:nvSpPr>
        <p:spPr>
          <a:xfrm>
            <a:off x="571500" y="5321300"/>
            <a:ext cx="2032000" cy="393700"/>
          </a:xfrm>
          <a:prstGeom prst="rect">
            <a:avLst/>
          </a:prstGeom>
          <a:noFill/>
        </p:spPr>
        <p:txBody>
          <a:bodyPr wrap="square" lIns="0" tIns="0" rIns="0" bIns="0" rtlCol="0" anchor="t">
            <a:noAutofit/>
          </a:bodyPr>
          <a:p>
            <a:pPr algn="l">
              <a:lnSpc>
                <a:spcPct val="104000"/>
              </a:lnSpc>
              <a:spcBef>
                <a:spcPts val="0"/>
              </a:spcBef>
              <a:spcAft>
                <a:spcPts val="0"/>
              </a:spcAft>
            </a:pPr>
            <a:r>
              <a:rPr lang="vi-VN" sz="2200" b="1">
                <a:solidFill>
                  <a:srgbClr val="194B93"/>
                </a:solidFill>
                <a:latin typeface="Arial" panose="020B0604020202020204" pitchFamily="34" charset="0"/>
                <a:cs typeface="Arial" panose="020B0604020202020204" pitchFamily="34" charset="0"/>
              </a:rPr>
              <a:t>Phát biểu</a:t>
            </a:r>
            <a:endParaRPr lang="vi-VN" sz="2200" b="1">
              <a:solidFill>
                <a:srgbClr val="194B93"/>
              </a:solidFill>
              <a:latin typeface="Arial" panose="020B0604020202020204" pitchFamily="34" charset="0"/>
              <a:cs typeface="Arial" panose="020B0604020202020204" pitchFamily="34" charset="0"/>
            </a:endParaRPr>
          </a:p>
        </p:txBody>
      </p:sp>
      <p:sp>
        <p:nvSpPr>
          <p:cNvPr id="18" name="Text Box 17"/>
          <p:cNvSpPr txBox="1"/>
          <p:nvPr/>
        </p:nvSpPr>
        <p:spPr>
          <a:xfrm>
            <a:off x="2794000" y="5321300"/>
            <a:ext cx="8826500" cy="495300"/>
          </a:xfrm>
          <a:prstGeom prst="rect">
            <a:avLst/>
          </a:prstGeom>
          <a:noFill/>
        </p:spPr>
        <p:txBody>
          <a:bodyPr wrap="square" lIns="0" tIns="0" rIns="0" bIns="0" rtlCol="0" anchor="t">
            <a:noAutofit/>
          </a:bodyPr>
          <a:p>
            <a:pPr algn="l">
              <a:lnSpc>
                <a:spcPct val="104000"/>
              </a:lnSpc>
              <a:spcBef>
                <a:spcPts val="0"/>
              </a:spcBef>
              <a:spcAft>
                <a:spcPts val="0"/>
              </a:spcAft>
            </a:pPr>
            <a:r>
              <a:rPr lang="vi-VN" sz="2200">
                <a:solidFill>
                  <a:srgbClr val="172B43"/>
                </a:solidFill>
                <a:latin typeface="Arial" panose="020B0604020202020204" pitchFamily="34" charset="0"/>
                <a:cs typeface="Arial" panose="020B0604020202020204" pitchFamily="34" charset="0"/>
              </a:rPr>
              <a:t>Từng claim có bằng chứng và trích dẫn truy vết</a:t>
            </a:r>
            <a:endParaRPr lang="vi-VN" sz="2200">
              <a:solidFill>
                <a:srgbClr val="172B43"/>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Cơ sở phương pháp và khoảng trống thiết kế</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Tham chiếu: Lewis (2020); Asai (2024); Yan (2024); Min (2023)</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03 / 15</a:t>
            </a:r>
            <a:endParaRPr lang="vi-VN" sz="1200">
              <a:solidFill>
                <a:srgbClr val="506074"/>
              </a:solidFill>
              <a:latin typeface="Arial" panose="020B0604020202020204" pitchFamily="34" charset="0"/>
              <a:cs typeface="Arial" panose="020B0604020202020204" pitchFamily="34" charset="0"/>
            </a:endParaRPr>
          </a:p>
        </p:txBody>
      </p:sp>
      <p:graphicFrame>
        <p:nvGraphicFramePr>
          <p:cNvPr id="7" name="Table 6"/>
          <p:cNvGraphicFramePr/>
          <p:nvPr/>
        </p:nvGraphicFramePr>
        <p:xfrm>
          <a:off x="571500" y="1574800"/>
          <a:ext cx="11049000" cy="3289300"/>
        </p:xfrm>
        <a:graphic>
          <a:graphicData uri="http://schemas.openxmlformats.org/drawingml/2006/table">
            <a:tbl>
              <a:tblPr firstRow="1" bandRow="1">
                <a:tableStyleId>{5C22544A-7EE6-4342-B048-85BDC9FD1C3A}</a:tableStyleId>
              </a:tblPr>
              <a:tblGrid>
                <a:gridCol w="2857500"/>
                <a:gridCol w="8191500"/>
              </a:tblGrid>
              <a:tr h="546100">
                <a:tc>
                  <a:txBody>
                    <a:bodyPr wrap="square"/>
                    <a:p>
                      <a:pPr algn="l">
                        <a:lnSpc>
                          <a:spcPct val="100000"/>
                        </a:lnSpc>
                        <a:spcBef>
                          <a:spcPts val="0"/>
                        </a:spcBef>
                        <a:spcAft>
                          <a:spcPts val="0"/>
                        </a:spcAft>
                        <a:buNone/>
                      </a:pPr>
                      <a:r>
                        <a:rPr lang="vi-VN" sz="2000" b="1">
                          <a:solidFill>
                            <a:srgbClr val="FFFFFF"/>
                          </a:solidFill>
                          <a:latin typeface="Arial" panose="020B0604020202020204" pitchFamily="34" charset="0"/>
                          <a:cs typeface="Arial" panose="020B0604020202020204" pitchFamily="34" charset="0"/>
                        </a:rPr>
                        <a:t>Hướng tiếp cận</a:t>
                      </a:r>
                      <a:endParaRPr lang="vi-VN" sz="20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c>
                  <a:txBody>
                    <a:bodyPr wrap="square"/>
                    <a:p>
                      <a:pPr algn="l">
                        <a:lnSpc>
                          <a:spcPct val="100000"/>
                        </a:lnSpc>
                        <a:spcBef>
                          <a:spcPts val="0"/>
                        </a:spcBef>
                        <a:spcAft>
                          <a:spcPts val="0"/>
                        </a:spcAft>
                        <a:buNone/>
                      </a:pPr>
                      <a:r>
                        <a:rPr lang="vi-VN" sz="2000" b="1">
                          <a:solidFill>
                            <a:srgbClr val="FFFFFF"/>
                          </a:solidFill>
                          <a:latin typeface="Arial" panose="020B0604020202020204" pitchFamily="34" charset="0"/>
                          <a:cs typeface="Arial" panose="020B0604020202020204" pitchFamily="34" charset="0"/>
                        </a:rPr>
                        <a:t>Cơ chế tham chiếu</a:t>
                      </a:r>
                      <a:endParaRPr lang="vi-VN" sz="20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r>
              <a:tr h="685800">
                <a:tc>
                  <a:txBody>
                    <a:bodyPr wrap="square"/>
                    <a:p>
                      <a:pPr algn="l">
                        <a:lnSpc>
                          <a:spcPct val="100000"/>
                        </a:lnSpc>
                        <a:spcBef>
                          <a:spcPts val="0"/>
                        </a:spcBef>
                        <a:spcAft>
                          <a:spcPts val="0"/>
                        </a:spcAft>
                        <a:buNone/>
                      </a:pPr>
                      <a:r>
                        <a:rPr lang="vi-VN" sz="2000" b="0">
                          <a:solidFill>
                            <a:srgbClr val="172B43"/>
                          </a:solidFill>
                          <a:latin typeface="Arial" panose="020B0604020202020204" pitchFamily="34" charset="0"/>
                          <a:cs typeface="Arial" panose="020B0604020202020204" pitchFamily="34" charset="0"/>
                        </a:rPr>
                        <a:t>RAG</a:t>
                      </a:r>
                      <a:endParaRPr lang="vi-VN" sz="20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2000" b="0">
                          <a:solidFill>
                            <a:srgbClr val="172B43"/>
                          </a:solidFill>
                          <a:latin typeface="Arial" panose="020B0604020202020204" pitchFamily="34" charset="0"/>
                          <a:cs typeface="Arial" panose="020B0604020202020204" pitchFamily="34" charset="0"/>
                        </a:rPr>
                        <a:t>Truy xuất để hỗ trợ sinh câu trả lời</a:t>
                      </a:r>
                      <a:endParaRPr lang="vi-VN" sz="20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r>
              <a:tr h="685800">
                <a:tc>
                  <a:txBody>
                    <a:bodyPr wrap="square"/>
                    <a:p>
                      <a:pPr algn="l">
                        <a:lnSpc>
                          <a:spcPct val="100000"/>
                        </a:lnSpc>
                        <a:spcBef>
                          <a:spcPts val="0"/>
                        </a:spcBef>
                        <a:spcAft>
                          <a:spcPts val="0"/>
                        </a:spcAft>
                        <a:buNone/>
                      </a:pPr>
                      <a:r>
                        <a:rPr lang="vi-VN" sz="2000" b="0">
                          <a:solidFill>
                            <a:srgbClr val="172B43"/>
                          </a:solidFill>
                          <a:latin typeface="Arial" panose="020B0604020202020204" pitchFamily="34" charset="0"/>
                          <a:cs typeface="Arial" panose="020B0604020202020204" pitchFamily="34" charset="0"/>
                        </a:rPr>
                        <a:t>Self-RAG</a:t>
                      </a:r>
                      <a:endParaRPr lang="vi-VN" sz="20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2000" b="0">
                          <a:solidFill>
                            <a:srgbClr val="172B43"/>
                          </a:solidFill>
                          <a:latin typeface="Arial" panose="020B0604020202020204" pitchFamily="34" charset="0"/>
                          <a:cs typeface="Arial" panose="020B0604020202020204" pitchFamily="34" charset="0"/>
                        </a:rPr>
                        <a:t>Phản tư về truy xuất và nội dung sinh</a:t>
                      </a:r>
                      <a:endParaRPr lang="vi-VN" sz="20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r>
              <a:tr h="685800">
                <a:tc>
                  <a:txBody>
                    <a:bodyPr wrap="square"/>
                    <a:p>
                      <a:pPr algn="l">
                        <a:lnSpc>
                          <a:spcPct val="100000"/>
                        </a:lnSpc>
                        <a:spcBef>
                          <a:spcPts val="0"/>
                        </a:spcBef>
                        <a:spcAft>
                          <a:spcPts val="0"/>
                        </a:spcAft>
                        <a:buNone/>
                      </a:pPr>
                      <a:r>
                        <a:rPr lang="vi-VN" sz="2000" b="0">
                          <a:solidFill>
                            <a:srgbClr val="172B43"/>
                          </a:solidFill>
                          <a:latin typeface="Arial" panose="020B0604020202020204" pitchFamily="34" charset="0"/>
                          <a:cs typeface="Arial" panose="020B0604020202020204" pitchFamily="34" charset="0"/>
                        </a:rPr>
                        <a:t>Corrective RAG</a:t>
                      </a:r>
                      <a:endParaRPr lang="vi-VN" sz="20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2000" b="0">
                          <a:solidFill>
                            <a:srgbClr val="172B43"/>
                          </a:solidFill>
                          <a:latin typeface="Arial" panose="020B0604020202020204" pitchFamily="34" charset="0"/>
                          <a:cs typeface="Arial" panose="020B0604020202020204" pitchFamily="34" charset="0"/>
                        </a:rPr>
                        <a:t>Đánh giá bằng chứng và truy xuất sửa lỗi</a:t>
                      </a:r>
                      <a:endParaRPr lang="vi-VN" sz="20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r>
              <a:tr h="685800">
                <a:tc>
                  <a:txBody>
                    <a:bodyPr wrap="square"/>
                    <a:p>
                      <a:pPr algn="l">
                        <a:lnSpc>
                          <a:spcPct val="100000"/>
                        </a:lnSpc>
                        <a:spcBef>
                          <a:spcPts val="0"/>
                        </a:spcBef>
                        <a:spcAft>
                          <a:spcPts val="0"/>
                        </a:spcAft>
                        <a:buNone/>
                      </a:pPr>
                      <a:r>
                        <a:rPr lang="vi-VN" sz="2000" b="0">
                          <a:solidFill>
                            <a:srgbClr val="172B43"/>
                          </a:solidFill>
                          <a:latin typeface="Arial" panose="020B0604020202020204" pitchFamily="34" charset="0"/>
                          <a:cs typeface="Arial" panose="020B0604020202020204" pitchFamily="34" charset="0"/>
                        </a:rPr>
                        <a:t>FActScore</a:t>
                      </a:r>
                      <a:endParaRPr lang="vi-VN" sz="20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2000" b="0">
                          <a:solidFill>
                            <a:srgbClr val="172B43"/>
                          </a:solidFill>
                          <a:latin typeface="Arial" panose="020B0604020202020204" pitchFamily="34" charset="0"/>
                          <a:cs typeface="Arial" panose="020B0604020202020204" pitchFamily="34" charset="0"/>
                        </a:rPr>
                        <a:t>Đánh giá hỗ trợ ở mức phát biểu nguyên tử</a:t>
                      </a:r>
                      <a:endParaRPr lang="vi-VN" sz="20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r>
            </a:tbl>
          </a:graphicData>
        </a:graphic>
      </p:graphicFrame>
      <p:sp>
        <p:nvSpPr>
          <p:cNvPr id="8" name="Text Box 7"/>
          <p:cNvSpPr txBox="1"/>
          <p:nvPr/>
        </p:nvSpPr>
        <p:spPr>
          <a:xfrm>
            <a:off x="571500" y="5143500"/>
            <a:ext cx="11049000" cy="406400"/>
          </a:xfrm>
          <a:prstGeom prst="rect">
            <a:avLst/>
          </a:prstGeom>
          <a:noFill/>
        </p:spPr>
        <p:txBody>
          <a:bodyPr wrap="square" lIns="0" tIns="0" rIns="0" bIns="0" rtlCol="0" anchor="t">
            <a:noAutofit/>
          </a:bodyPr>
          <a:p>
            <a:pPr algn="l">
              <a:lnSpc>
                <a:spcPct val="104000"/>
              </a:lnSpc>
              <a:spcBef>
                <a:spcPts val="0"/>
              </a:spcBef>
              <a:spcAft>
                <a:spcPts val="0"/>
              </a:spcAft>
            </a:pPr>
            <a:r>
              <a:rPr lang="vi-VN" sz="2500" b="1">
                <a:solidFill>
                  <a:srgbClr val="194B93"/>
                </a:solidFill>
                <a:latin typeface="Arial" panose="020B0604020202020204" pitchFamily="34" charset="0"/>
                <a:cs typeface="Arial" panose="020B0604020202020204" pitchFamily="34" charset="0"/>
              </a:rPr>
              <a:t>Khoảng trống đặt ra trong đề tài</a:t>
            </a:r>
            <a:endParaRPr lang="vi-VN" sz="2500" b="1">
              <a:solidFill>
                <a:srgbClr val="194B93"/>
              </a:solidFill>
              <a:latin typeface="Arial" panose="020B0604020202020204" pitchFamily="34" charset="0"/>
              <a:cs typeface="Arial" panose="020B0604020202020204" pitchFamily="34" charset="0"/>
            </a:endParaRPr>
          </a:p>
        </p:txBody>
      </p:sp>
      <p:sp>
        <p:nvSpPr>
          <p:cNvPr id="9" name="Text Box 8"/>
          <p:cNvSpPr txBox="1"/>
          <p:nvPr/>
        </p:nvSpPr>
        <p:spPr>
          <a:xfrm>
            <a:off x="571500" y="56515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2100">
                <a:solidFill>
                  <a:srgbClr val="172B43"/>
                </a:solidFill>
                <a:latin typeface="Arial" panose="020B0604020202020204" pitchFamily="34" charset="0"/>
                <a:cs typeface="Arial" panose="020B0604020202020204" pitchFamily="34" charset="0"/>
              </a:rPr>
              <a:t>Nối nghĩa vụ từ câu hỏi với PRE, kiểm chứng claim ở POST
và kiểm soát hành động bằng guard xác định.</a:t>
            </a:r>
            <a:endParaRPr lang="vi-VN" sz="2100">
              <a:solidFill>
                <a:srgbClr val="172B43"/>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Câu hỏi nghiên cứu và đóng góp dự kiến</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Nguồn: content contract §3 và §6; protocol e1-v2.refined-full-primary.v2</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04 / 15</a:t>
            </a:r>
            <a:endParaRPr lang="vi-VN" sz="1200">
              <a:solidFill>
                <a:srgbClr val="506074"/>
              </a:solidFill>
              <a:latin typeface="Arial" panose="020B0604020202020204" pitchFamily="34" charset="0"/>
              <a:cs typeface="Arial" panose="020B0604020202020204" pitchFamily="34" charset="0"/>
            </a:endParaRPr>
          </a:p>
        </p:txBody>
      </p:sp>
      <p:sp>
        <p:nvSpPr>
          <p:cNvPr id="7" name="Text Box 6"/>
          <p:cNvSpPr txBox="1"/>
          <p:nvPr/>
        </p:nvSpPr>
        <p:spPr>
          <a:xfrm>
            <a:off x="571500" y="1612900"/>
            <a:ext cx="952500" cy="431800"/>
          </a:xfrm>
          <a:prstGeom prst="rect">
            <a:avLst/>
          </a:prstGeom>
          <a:noFill/>
        </p:spPr>
        <p:txBody>
          <a:bodyPr wrap="square" lIns="0" tIns="0" rIns="0" bIns="0" rtlCol="0" anchor="t">
            <a:noAutofit/>
          </a:bodyPr>
          <a:p>
            <a:pPr algn="l">
              <a:lnSpc>
                <a:spcPct val="104000"/>
              </a:lnSpc>
              <a:spcBef>
                <a:spcPts val="0"/>
              </a:spcBef>
              <a:spcAft>
                <a:spcPts val="0"/>
              </a:spcAft>
            </a:pPr>
            <a:r>
              <a:rPr lang="vi-VN" sz="2600" b="1">
                <a:solidFill>
                  <a:srgbClr val="194B93"/>
                </a:solidFill>
                <a:latin typeface="Arial" panose="020B0604020202020204" pitchFamily="34" charset="0"/>
                <a:cs typeface="Arial" panose="020B0604020202020204" pitchFamily="34" charset="0"/>
              </a:rPr>
              <a:t>RQ1</a:t>
            </a:r>
            <a:endParaRPr lang="vi-VN" sz="2600" b="1">
              <a:solidFill>
                <a:srgbClr val="194B93"/>
              </a:solidFill>
              <a:latin typeface="Arial" panose="020B0604020202020204" pitchFamily="34" charset="0"/>
              <a:cs typeface="Arial" panose="020B0604020202020204" pitchFamily="34" charset="0"/>
            </a:endParaRPr>
          </a:p>
        </p:txBody>
      </p:sp>
      <p:sp>
        <p:nvSpPr>
          <p:cNvPr id="8" name="Text Box 7"/>
          <p:cNvSpPr txBox="1"/>
          <p:nvPr/>
        </p:nvSpPr>
        <p:spPr>
          <a:xfrm>
            <a:off x="1816100" y="1612900"/>
            <a:ext cx="2413000" cy="431800"/>
          </a:xfrm>
          <a:prstGeom prst="rect">
            <a:avLst/>
          </a:prstGeom>
          <a:noFill/>
        </p:spPr>
        <p:txBody>
          <a:bodyPr wrap="square" lIns="0" tIns="0" rIns="0" bIns="0" rtlCol="0" anchor="t">
            <a:noAutofit/>
          </a:bodyPr>
          <a:p>
            <a:pPr algn="l">
              <a:lnSpc>
                <a:spcPct val="104000"/>
              </a:lnSpc>
              <a:spcBef>
                <a:spcPts val="0"/>
              </a:spcBef>
              <a:spcAft>
                <a:spcPts val="0"/>
              </a:spcAft>
            </a:pPr>
            <a:r>
              <a:rPr lang="vi-VN" sz="2300" b="1">
                <a:solidFill>
                  <a:srgbClr val="194B93"/>
                </a:solidFill>
                <a:latin typeface="Arial" panose="020B0604020202020204" pitchFamily="34" charset="0"/>
                <a:cs typeface="Arial" panose="020B0604020202020204" pitchFamily="34" charset="0"/>
              </a:rPr>
              <a:t>A1 so với G</a:t>
            </a:r>
            <a:endParaRPr lang="vi-VN" sz="2300" b="1">
              <a:solidFill>
                <a:srgbClr val="194B93"/>
              </a:solidFill>
              <a:latin typeface="Arial" panose="020B0604020202020204" pitchFamily="34" charset="0"/>
              <a:cs typeface="Arial" panose="020B0604020202020204" pitchFamily="34" charset="0"/>
            </a:endParaRPr>
          </a:p>
        </p:txBody>
      </p:sp>
      <p:sp>
        <p:nvSpPr>
          <p:cNvPr id="9" name="Text Box 8"/>
          <p:cNvSpPr txBox="1"/>
          <p:nvPr/>
        </p:nvSpPr>
        <p:spPr>
          <a:xfrm>
            <a:off x="4495800" y="1612900"/>
            <a:ext cx="7124700" cy="838200"/>
          </a:xfrm>
          <a:prstGeom prst="rect">
            <a:avLst/>
          </a:prstGeom>
          <a:noFill/>
        </p:spPr>
        <p:txBody>
          <a:bodyPr wrap="square" lIns="0" tIns="0" rIns="0" bIns="0" rtlCol="0" anchor="t">
            <a:noAutofit/>
          </a:bodyPr>
          <a:p>
            <a:pPr algn="l">
              <a:lnSpc>
                <a:spcPct val="104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So sánh chất lượng quyết định dựa trên bằng chứng
giữa hai policy PRE đã hiện thực</a:t>
            </a:r>
            <a:endParaRPr lang="vi-VN" sz="2000">
              <a:solidFill>
                <a:srgbClr val="172B43"/>
              </a:solidFill>
              <a:latin typeface="Arial" panose="020B0604020202020204" pitchFamily="34" charset="0"/>
              <a:cs typeface="Arial" panose="020B0604020202020204" pitchFamily="34" charset="0"/>
            </a:endParaRPr>
          </a:p>
        </p:txBody>
      </p:sp>
      <p:cxnSp>
        <p:nvCxnSpPr>
          <p:cNvPr id="10" name="Straight Connector 9"/>
          <p:cNvCxnSpPr/>
          <p:nvPr/>
        </p:nvCxnSpPr>
        <p:spPr>
          <a:xfrm>
            <a:off x="1816100" y="2679700"/>
            <a:ext cx="9804400" cy="635"/>
          </a:xfrm>
          <a:prstGeom prst="line">
            <a:avLst/>
          </a:prstGeom>
          <a:ln w="11430">
            <a:solidFill>
              <a:srgbClr val="C9D3DF"/>
            </a:solidFill>
          </a:ln>
        </p:spPr>
        <p:style>
          <a:lnRef idx="2">
            <a:schemeClr val="accent1"/>
          </a:lnRef>
          <a:fillRef idx="0">
            <a:srgbClr val="FFFFFF"/>
          </a:fillRef>
          <a:effectRef idx="0">
            <a:srgbClr val="FFFFFF"/>
          </a:effectRef>
          <a:fontRef idx="minor">
            <a:schemeClr val="tx1"/>
          </a:fontRef>
        </p:style>
      </p:cxnSp>
      <p:sp>
        <p:nvSpPr>
          <p:cNvPr id="11" name="Text Box 10"/>
          <p:cNvSpPr txBox="1"/>
          <p:nvPr/>
        </p:nvSpPr>
        <p:spPr>
          <a:xfrm>
            <a:off x="571500" y="2997200"/>
            <a:ext cx="952500" cy="431800"/>
          </a:xfrm>
          <a:prstGeom prst="rect">
            <a:avLst/>
          </a:prstGeom>
          <a:noFill/>
        </p:spPr>
        <p:txBody>
          <a:bodyPr wrap="square" lIns="0" tIns="0" rIns="0" bIns="0" rtlCol="0" anchor="t">
            <a:noAutofit/>
          </a:bodyPr>
          <a:p>
            <a:pPr algn="l">
              <a:lnSpc>
                <a:spcPct val="104000"/>
              </a:lnSpc>
              <a:spcBef>
                <a:spcPts val="0"/>
              </a:spcBef>
              <a:spcAft>
                <a:spcPts val="0"/>
              </a:spcAft>
            </a:pPr>
            <a:r>
              <a:rPr lang="vi-VN" sz="2600" b="1">
                <a:solidFill>
                  <a:srgbClr val="194B93"/>
                </a:solidFill>
                <a:latin typeface="Arial" panose="020B0604020202020204" pitchFamily="34" charset="0"/>
                <a:cs typeface="Arial" panose="020B0604020202020204" pitchFamily="34" charset="0"/>
              </a:rPr>
              <a:t>RQ2</a:t>
            </a:r>
            <a:endParaRPr lang="vi-VN" sz="2600" b="1">
              <a:solidFill>
                <a:srgbClr val="194B93"/>
              </a:solidFill>
              <a:latin typeface="Arial" panose="020B0604020202020204" pitchFamily="34" charset="0"/>
              <a:cs typeface="Arial" panose="020B0604020202020204" pitchFamily="34" charset="0"/>
            </a:endParaRPr>
          </a:p>
        </p:txBody>
      </p:sp>
      <p:sp>
        <p:nvSpPr>
          <p:cNvPr id="12" name="Text Box 11"/>
          <p:cNvSpPr txBox="1"/>
          <p:nvPr/>
        </p:nvSpPr>
        <p:spPr>
          <a:xfrm>
            <a:off x="1816100" y="2997200"/>
            <a:ext cx="2413000" cy="431800"/>
          </a:xfrm>
          <a:prstGeom prst="rect">
            <a:avLst/>
          </a:prstGeom>
          <a:noFill/>
        </p:spPr>
        <p:txBody>
          <a:bodyPr wrap="square" lIns="0" tIns="0" rIns="0" bIns="0" rtlCol="0" anchor="t">
            <a:noAutofit/>
          </a:bodyPr>
          <a:p>
            <a:pPr algn="l">
              <a:lnSpc>
                <a:spcPct val="104000"/>
              </a:lnSpc>
              <a:spcBef>
                <a:spcPts val="0"/>
              </a:spcBef>
              <a:spcAft>
                <a:spcPts val="0"/>
              </a:spcAft>
            </a:pPr>
            <a:r>
              <a:rPr lang="vi-VN" sz="2300" b="1">
                <a:solidFill>
                  <a:srgbClr val="194B93"/>
                </a:solidFill>
                <a:latin typeface="Arial" panose="020B0604020202020204" pitchFamily="34" charset="0"/>
                <a:cs typeface="Arial" panose="020B0604020202020204" pitchFamily="34" charset="0"/>
              </a:rPr>
              <a:t>A1 so với A0</a:t>
            </a:r>
            <a:endParaRPr lang="vi-VN" sz="2300" b="1">
              <a:solidFill>
                <a:srgbClr val="194B93"/>
              </a:solidFill>
              <a:latin typeface="Arial" panose="020B0604020202020204" pitchFamily="34" charset="0"/>
              <a:cs typeface="Arial" panose="020B0604020202020204" pitchFamily="34" charset="0"/>
            </a:endParaRPr>
          </a:p>
        </p:txBody>
      </p:sp>
      <p:sp>
        <p:nvSpPr>
          <p:cNvPr id="13" name="Text Box 12"/>
          <p:cNvSpPr txBox="1"/>
          <p:nvPr/>
        </p:nvSpPr>
        <p:spPr>
          <a:xfrm>
            <a:off x="4495800" y="2997200"/>
            <a:ext cx="7124700" cy="838200"/>
          </a:xfrm>
          <a:prstGeom prst="rect">
            <a:avLst/>
          </a:prstGeom>
          <a:noFill/>
        </p:spPr>
        <p:txBody>
          <a:bodyPr wrap="square" lIns="0" tIns="0" rIns="0" bIns="0" rtlCol="0" anchor="t">
            <a:noAutofit/>
          </a:bodyPr>
          <a:p>
            <a:pPr algn="l">
              <a:lnSpc>
                <a:spcPct val="104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Ảnh hưởng của việc hiển thị câu hỏi gốc tại PRE
với cùng Plan, E₀, instruction và schema</a:t>
            </a:r>
            <a:endParaRPr lang="vi-VN" sz="2000">
              <a:solidFill>
                <a:srgbClr val="172B43"/>
              </a:solidFill>
              <a:latin typeface="Arial" panose="020B0604020202020204" pitchFamily="34" charset="0"/>
              <a:cs typeface="Arial" panose="020B0604020202020204" pitchFamily="34" charset="0"/>
            </a:endParaRPr>
          </a:p>
        </p:txBody>
      </p:sp>
      <p:cxnSp>
        <p:nvCxnSpPr>
          <p:cNvPr id="14" name="Straight Connector 13"/>
          <p:cNvCxnSpPr/>
          <p:nvPr/>
        </p:nvCxnSpPr>
        <p:spPr>
          <a:xfrm>
            <a:off x="1816100" y="4064000"/>
            <a:ext cx="9804400" cy="635"/>
          </a:xfrm>
          <a:prstGeom prst="line">
            <a:avLst/>
          </a:prstGeom>
          <a:ln w="11430">
            <a:solidFill>
              <a:srgbClr val="C9D3DF"/>
            </a:solidFill>
          </a:ln>
        </p:spPr>
        <p:style>
          <a:lnRef idx="2">
            <a:schemeClr val="accent1"/>
          </a:lnRef>
          <a:fillRef idx="0">
            <a:srgbClr val="FFFFFF"/>
          </a:fillRef>
          <a:effectRef idx="0">
            <a:srgbClr val="FFFFFF"/>
          </a:effectRef>
          <a:fontRef idx="minor">
            <a:schemeClr val="tx1"/>
          </a:fontRef>
        </p:style>
      </p:cxnSp>
      <p:sp>
        <p:nvSpPr>
          <p:cNvPr id="15" name="Text Box 14"/>
          <p:cNvSpPr txBox="1"/>
          <p:nvPr/>
        </p:nvSpPr>
        <p:spPr>
          <a:xfrm>
            <a:off x="571500" y="4381500"/>
            <a:ext cx="952500" cy="431800"/>
          </a:xfrm>
          <a:prstGeom prst="rect">
            <a:avLst/>
          </a:prstGeom>
          <a:noFill/>
        </p:spPr>
        <p:txBody>
          <a:bodyPr wrap="square" lIns="0" tIns="0" rIns="0" bIns="0" rtlCol="0" anchor="t">
            <a:noAutofit/>
          </a:bodyPr>
          <a:p>
            <a:pPr algn="l">
              <a:lnSpc>
                <a:spcPct val="104000"/>
              </a:lnSpc>
              <a:spcBef>
                <a:spcPts val="0"/>
              </a:spcBef>
              <a:spcAft>
                <a:spcPts val="0"/>
              </a:spcAft>
            </a:pPr>
            <a:r>
              <a:rPr lang="vi-VN" sz="2600" b="1">
                <a:solidFill>
                  <a:srgbClr val="194B93"/>
                </a:solidFill>
                <a:latin typeface="Arial" panose="020B0604020202020204" pitchFamily="34" charset="0"/>
                <a:cs typeface="Arial" panose="020B0604020202020204" pitchFamily="34" charset="0"/>
              </a:rPr>
              <a:t>RQ3</a:t>
            </a:r>
            <a:endParaRPr lang="vi-VN" sz="2600" b="1">
              <a:solidFill>
                <a:srgbClr val="194B93"/>
              </a:solidFill>
              <a:latin typeface="Arial" panose="020B0604020202020204" pitchFamily="34" charset="0"/>
              <a:cs typeface="Arial" panose="020B0604020202020204" pitchFamily="34" charset="0"/>
            </a:endParaRPr>
          </a:p>
        </p:txBody>
      </p:sp>
      <p:sp>
        <p:nvSpPr>
          <p:cNvPr id="16" name="Text Box 15"/>
          <p:cNvSpPr txBox="1"/>
          <p:nvPr/>
        </p:nvSpPr>
        <p:spPr>
          <a:xfrm>
            <a:off x="1816100" y="4381500"/>
            <a:ext cx="2413000" cy="431800"/>
          </a:xfrm>
          <a:prstGeom prst="rect">
            <a:avLst/>
          </a:prstGeom>
          <a:noFill/>
        </p:spPr>
        <p:txBody>
          <a:bodyPr wrap="square" lIns="0" tIns="0" rIns="0" bIns="0" rtlCol="0" anchor="t">
            <a:noAutofit/>
          </a:bodyPr>
          <a:p>
            <a:pPr algn="l">
              <a:lnSpc>
                <a:spcPct val="104000"/>
              </a:lnSpc>
              <a:spcBef>
                <a:spcPts val="0"/>
              </a:spcBef>
              <a:spcAft>
                <a:spcPts val="0"/>
              </a:spcAft>
            </a:pPr>
            <a:r>
              <a:rPr lang="vi-VN" sz="2300" b="1">
                <a:solidFill>
                  <a:srgbClr val="194B93"/>
                </a:solidFill>
                <a:latin typeface="Arial" panose="020B0604020202020204" pitchFamily="34" charset="0"/>
                <a:cs typeface="Arial" panose="020B0604020202020204" pitchFamily="34" charset="0"/>
              </a:rPr>
              <a:t>A0 so với G</a:t>
            </a:r>
            <a:endParaRPr lang="vi-VN" sz="2300" b="1">
              <a:solidFill>
                <a:srgbClr val="194B93"/>
              </a:solidFill>
              <a:latin typeface="Arial" panose="020B0604020202020204" pitchFamily="34" charset="0"/>
              <a:cs typeface="Arial" panose="020B0604020202020204" pitchFamily="34" charset="0"/>
            </a:endParaRPr>
          </a:p>
        </p:txBody>
      </p:sp>
      <p:sp>
        <p:nvSpPr>
          <p:cNvPr id="17" name="Text Box 16"/>
          <p:cNvSpPr txBox="1"/>
          <p:nvPr/>
        </p:nvSpPr>
        <p:spPr>
          <a:xfrm>
            <a:off x="4495800" y="4381500"/>
            <a:ext cx="7124700" cy="838200"/>
          </a:xfrm>
          <a:prstGeom prst="rect">
            <a:avLst/>
          </a:prstGeom>
          <a:noFill/>
        </p:spPr>
        <p:txBody>
          <a:bodyPr wrap="square" lIns="0" tIns="0" rIns="0" bIns="0" rtlCol="0" anchor="t">
            <a:noAutofit/>
          </a:bodyPr>
          <a:p>
            <a:pPr algn="l">
              <a:lnSpc>
                <a:spcPct val="104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So sánh hỗ trợ cho FULL PRE nguyên bản
trên cùng downstream v4</a:t>
            </a:r>
            <a:endParaRPr lang="vi-VN" sz="2000">
              <a:solidFill>
                <a:srgbClr val="172B43"/>
              </a:solidFill>
              <a:latin typeface="Arial" panose="020B0604020202020204" pitchFamily="34" charset="0"/>
              <a:cs typeface="Arial" panose="020B0604020202020204" pitchFamily="34" charset="0"/>
            </a:endParaRPr>
          </a:p>
        </p:txBody>
      </p:sp>
      <p:cxnSp>
        <p:nvCxnSpPr>
          <p:cNvPr id="18" name="Straight Connector 17"/>
          <p:cNvCxnSpPr/>
          <p:nvPr/>
        </p:nvCxnSpPr>
        <p:spPr>
          <a:xfrm>
            <a:off x="1816100" y="5448300"/>
            <a:ext cx="9804400" cy="635"/>
          </a:xfrm>
          <a:prstGeom prst="line">
            <a:avLst/>
          </a:prstGeom>
          <a:ln w="11430">
            <a:solidFill>
              <a:srgbClr val="C9D3DF"/>
            </a:solidFill>
          </a:ln>
        </p:spPr>
        <p:style>
          <a:lnRef idx="2">
            <a:schemeClr val="accent1"/>
          </a:lnRef>
          <a:fillRef idx="0">
            <a:srgbClr val="FFFFFF"/>
          </a:fillRef>
          <a:effectRef idx="0">
            <a:srgbClr val="FFFFFF"/>
          </a:effectRef>
          <a:fontRef idx="minor">
            <a:schemeClr val="tx1"/>
          </a:fontRef>
        </p:style>
      </p:cxnSp>
      <p:sp>
        <p:nvSpPr>
          <p:cNvPr id="19" name="Text Box 18"/>
          <p:cNvSpPr txBox="1"/>
          <p:nvPr/>
        </p:nvSpPr>
        <p:spPr>
          <a:xfrm>
            <a:off x="571500" y="5765800"/>
            <a:ext cx="11049000" cy="609600"/>
          </a:xfrm>
          <a:prstGeom prst="rect">
            <a:avLst/>
          </a:prstGeom>
          <a:noFill/>
        </p:spPr>
        <p:txBody>
          <a:bodyPr wrap="square" lIns="0" tIns="0" rIns="0" bIns="0" rtlCol="0" anchor="t">
            <a:noAutofit/>
          </a:bodyPr>
          <a:p>
            <a:pPr algn="l">
              <a:lnSpc>
                <a:spcPct val="104000"/>
              </a:lnSpc>
              <a:spcBef>
                <a:spcPts val="0"/>
              </a:spcBef>
              <a:spcAft>
                <a:spcPts val="0"/>
              </a:spcAft>
            </a:pPr>
            <a:r>
              <a:rPr lang="vi-VN" sz="1900">
                <a:solidFill>
                  <a:srgbClr val="172B43"/>
                </a:solidFill>
                <a:latin typeface="Arial" panose="020B0604020202020204" pitchFamily="34" charset="0"/>
                <a:cs typeface="Arial" panose="020B0604020202020204" pitchFamily="34" charset="0"/>
              </a:rPr>
              <a:t>Đóng góp dự kiến: hợp đồng benchmark, dual verification,
guard xác định và protocol so sánh có thể tái lập.</a:t>
            </a:r>
            <a:endParaRPr lang="vi-VN" sz="1900">
              <a:solidFill>
                <a:srgbClr val="172B43"/>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Khung nghiên cứu tổng thể</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Phỏng theo Hình 01: research framework; content contract §4–6</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05 / 15</a:t>
            </a:r>
            <a:endParaRPr lang="vi-VN" sz="1200">
              <a:solidFill>
                <a:srgbClr val="506074"/>
              </a:solidFill>
              <a:latin typeface="Arial" panose="020B0604020202020204" pitchFamily="34" charset="0"/>
              <a:cs typeface="Arial" panose="020B0604020202020204" pitchFamily="34" charset="0"/>
            </a:endParaRPr>
          </a:p>
        </p:txBody>
      </p:sp>
      <p:sp>
        <p:nvSpPr>
          <p:cNvPr id="7" name="Text Box 6"/>
          <p:cNvSpPr txBox="1"/>
          <p:nvPr/>
        </p:nvSpPr>
        <p:spPr>
          <a:xfrm>
            <a:off x="571500" y="1422400"/>
            <a:ext cx="11049000" cy="393700"/>
          </a:xfrm>
          <a:prstGeom prst="rect">
            <a:avLst/>
          </a:prstGeom>
          <a:noFill/>
        </p:spPr>
        <p:txBody>
          <a:bodyPr wrap="square" lIns="0" tIns="0" rIns="0" bIns="0" rtlCol="0" anchor="t">
            <a:noAutofit/>
          </a:bodyPr>
          <a:p>
            <a:pPr algn="l">
              <a:lnSpc>
                <a:spcPct val="104000"/>
              </a:lnSpc>
              <a:spcBef>
                <a:spcPts val="0"/>
              </a:spcBef>
              <a:spcAft>
                <a:spcPts val="0"/>
              </a:spcAft>
            </a:pPr>
            <a:r>
              <a:rPr lang="vi-VN" sz="2300" b="1">
                <a:solidFill>
                  <a:srgbClr val="194B93"/>
                </a:solidFill>
                <a:latin typeface="Arial" panose="020B0604020202020204" pitchFamily="34" charset="0"/>
                <a:cs typeface="Arial" panose="020B0604020202020204" pitchFamily="34" charset="0"/>
              </a:rPr>
              <a:t>Nguồn guideline và benchmark được quản trị riêng</a:t>
            </a:r>
            <a:endParaRPr lang="vi-VN" sz="2300" b="1">
              <a:solidFill>
                <a:srgbClr val="194B93"/>
              </a:solidFill>
              <a:latin typeface="Arial" panose="020B0604020202020204" pitchFamily="34" charset="0"/>
              <a:cs typeface="Arial" panose="020B0604020202020204" pitchFamily="34" charset="0"/>
            </a:endParaRPr>
          </a:p>
        </p:txBody>
      </p:sp>
      <p:sp>
        <p:nvSpPr>
          <p:cNvPr id="8" name="Rectangle 7"/>
          <p:cNvSpPr/>
          <p:nvPr/>
        </p:nvSpPr>
        <p:spPr>
          <a:xfrm>
            <a:off x="571500" y="2120900"/>
            <a:ext cx="3302000" cy="16129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200">
                <a:solidFill>
                  <a:srgbClr val="172B43"/>
                </a:solidFill>
                <a:latin typeface="Arial" panose="020B0604020202020204" pitchFamily="34" charset="0"/>
                <a:cs typeface="Arial" panose="020B0604020202020204" pitchFamily="34" charset="0"/>
              </a:rPr>
              <a:t>5 nguồn guideline
276 EvidenceUnits
170 SemanticIntents</a:t>
            </a:r>
            <a:endParaRPr lang="vi-VN" sz="2200">
              <a:solidFill>
                <a:srgbClr val="172B43"/>
              </a:solidFill>
              <a:latin typeface="Arial" panose="020B0604020202020204" pitchFamily="34" charset="0"/>
              <a:cs typeface="Arial" panose="020B0604020202020204" pitchFamily="34" charset="0"/>
            </a:endParaRPr>
          </a:p>
        </p:txBody>
      </p:sp>
      <p:sp>
        <p:nvSpPr>
          <p:cNvPr id="9" name="Rectangle 8"/>
          <p:cNvSpPr/>
          <p:nvPr/>
        </p:nvSpPr>
        <p:spPr>
          <a:xfrm>
            <a:off x="4445000" y="2120900"/>
            <a:ext cx="3302000" cy="16129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200">
                <a:solidFill>
                  <a:srgbClr val="172B43"/>
                </a:solidFill>
                <a:latin typeface="Arial" panose="020B0604020202020204" pitchFamily="34" charset="0"/>
                <a:cs typeface="Arial" panose="020B0604020202020204" pitchFamily="34" charset="0"/>
              </a:rPr>
              <a:t>DV-OGEC-RAG
PRE và POST
Hành động có guard</a:t>
            </a:r>
            <a:endParaRPr lang="vi-VN" sz="2200">
              <a:solidFill>
                <a:srgbClr val="172B43"/>
              </a:solidFill>
              <a:latin typeface="Arial" panose="020B0604020202020204" pitchFamily="34" charset="0"/>
              <a:cs typeface="Arial" panose="020B0604020202020204" pitchFamily="34" charset="0"/>
            </a:endParaRPr>
          </a:p>
        </p:txBody>
      </p:sp>
      <p:sp>
        <p:nvSpPr>
          <p:cNvPr id="10" name="Rectangle 9"/>
          <p:cNvSpPr/>
          <p:nvPr/>
        </p:nvSpPr>
        <p:spPr>
          <a:xfrm>
            <a:off x="8318500" y="2120900"/>
            <a:ext cx="3302000" cy="1612900"/>
          </a:xfrm>
          <a:prstGeom prst="rect">
            <a:avLst/>
          </a:prstGeom>
          <a:solidFill>
            <a:srgbClr val="FBEFF0"/>
          </a:solidFill>
          <a:ln w="17145">
            <a:solidFill>
              <a:srgbClr val="D5222A"/>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100">
                <a:solidFill>
                  <a:srgbClr val="172B43"/>
                </a:solidFill>
                <a:latin typeface="Arial" panose="020B0604020202020204" pitchFamily="34" charset="0"/>
                <a:cs typeface="Arial" panose="020B0604020202020204" pitchFamily="34" charset="0"/>
              </a:rPr>
              <a:t>Đánh giá độc lập
Cần owner reference
và scorer đủ điều kiện</a:t>
            </a:r>
            <a:endParaRPr lang="vi-VN" sz="2100">
              <a:solidFill>
                <a:srgbClr val="172B43"/>
              </a:solidFill>
              <a:latin typeface="Arial" panose="020B0604020202020204" pitchFamily="34" charset="0"/>
              <a:cs typeface="Arial" panose="020B0604020202020204" pitchFamily="34" charset="0"/>
            </a:endParaRPr>
          </a:p>
        </p:txBody>
      </p:sp>
      <p:cxnSp>
        <p:nvCxnSpPr>
          <p:cNvPr id="11" name="Straight Connector 10"/>
          <p:cNvCxnSpPr/>
          <p:nvPr/>
        </p:nvCxnSpPr>
        <p:spPr>
          <a:xfrm>
            <a:off x="3873500" y="2921000"/>
            <a:ext cx="5715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cxnSp>
        <p:nvCxnSpPr>
          <p:cNvPr id="12" name="Straight Connector 11"/>
          <p:cNvCxnSpPr/>
          <p:nvPr/>
        </p:nvCxnSpPr>
        <p:spPr>
          <a:xfrm>
            <a:off x="7747000" y="2921000"/>
            <a:ext cx="5715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13" name="Text Box 12"/>
          <p:cNvSpPr txBox="1"/>
          <p:nvPr/>
        </p:nvSpPr>
        <p:spPr>
          <a:xfrm>
            <a:off x="3581400" y="3911600"/>
            <a:ext cx="2476500" cy="660400"/>
          </a:xfrm>
          <a:prstGeom prst="rect">
            <a:avLst/>
          </a:prstGeom>
          <a:noFill/>
        </p:spPr>
        <p:txBody>
          <a:bodyPr wrap="square" lIns="0" tIns="0" rIns="0" bIns="0" rtlCol="0" anchor="t">
            <a:noAutofit/>
          </a:bodyPr>
          <a:p>
            <a:pPr algn="ctr">
              <a:lnSpc>
                <a:spcPct val="104000"/>
              </a:lnSpc>
              <a:spcBef>
                <a:spcPts val="0"/>
              </a:spcBef>
              <a:spcAft>
                <a:spcPts val="0"/>
              </a:spcAft>
            </a:pPr>
            <a:r>
              <a:rPr lang="vi-VN">
                <a:solidFill>
                  <a:srgbClr val="506074"/>
                </a:solidFill>
                <a:latin typeface="Arial" panose="020B0604020202020204" pitchFamily="34" charset="0"/>
                <a:cs typeface="Arial" panose="020B0604020202020204" pitchFamily="34" charset="0"/>
              </a:rPr>
              <a:t>Chỉ trường runtime
trong allowlist</a:t>
            </a:r>
            <a:endParaRPr lang="vi-VN">
              <a:solidFill>
                <a:srgbClr val="506074"/>
              </a:solidFill>
              <a:latin typeface="Arial" panose="020B0604020202020204" pitchFamily="34" charset="0"/>
              <a:cs typeface="Arial" panose="020B0604020202020204" pitchFamily="34" charset="0"/>
            </a:endParaRPr>
          </a:p>
        </p:txBody>
      </p:sp>
      <p:sp>
        <p:nvSpPr>
          <p:cNvPr id="14" name="Text Box 13"/>
          <p:cNvSpPr txBox="1"/>
          <p:nvPr/>
        </p:nvSpPr>
        <p:spPr>
          <a:xfrm>
            <a:off x="7162800" y="3911600"/>
            <a:ext cx="2286000" cy="660400"/>
          </a:xfrm>
          <a:prstGeom prst="rect">
            <a:avLst/>
          </a:prstGeom>
          <a:noFill/>
        </p:spPr>
        <p:txBody>
          <a:bodyPr wrap="square" lIns="0" tIns="0" rIns="0" bIns="0" rtlCol="0" anchor="t">
            <a:noAutofit/>
          </a:bodyPr>
          <a:p>
            <a:pPr algn="ctr">
              <a:lnSpc>
                <a:spcPct val="104000"/>
              </a:lnSpc>
              <a:spcBef>
                <a:spcPts val="0"/>
              </a:spcBef>
              <a:spcAft>
                <a:spcPts val="0"/>
              </a:spcAft>
            </a:pPr>
            <a:r>
              <a:rPr lang="vi-VN">
                <a:solidFill>
                  <a:srgbClr val="506074"/>
                </a:solidFill>
                <a:latin typeface="Arial" panose="020B0604020202020204" pitchFamily="34" charset="0"/>
                <a:cs typeface="Arial" panose="020B0604020202020204" pitchFamily="34" charset="0"/>
              </a:rPr>
              <a:t>Dự đoán và
provenance</a:t>
            </a:r>
            <a:endParaRPr lang="vi-VN">
              <a:solidFill>
                <a:srgbClr val="506074"/>
              </a:solidFill>
              <a:latin typeface="Arial" panose="020B0604020202020204" pitchFamily="34" charset="0"/>
              <a:cs typeface="Arial" panose="020B0604020202020204" pitchFamily="34" charset="0"/>
            </a:endParaRPr>
          </a:p>
        </p:txBody>
      </p:sp>
      <p:sp>
        <p:nvSpPr>
          <p:cNvPr id="15" name="Rectangle 14"/>
          <p:cNvSpPr/>
          <p:nvPr/>
        </p:nvSpPr>
        <p:spPr>
          <a:xfrm>
            <a:off x="571500" y="4902200"/>
            <a:ext cx="7175500" cy="9398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100">
                <a:solidFill>
                  <a:srgbClr val="172B43"/>
                </a:solidFill>
                <a:latin typeface="Arial" panose="020B0604020202020204" pitchFamily="34" charset="0"/>
                <a:cs typeface="Arial" panose="020B0604020202020204" pitchFamily="34" charset="0"/>
              </a:rPr>
              <a:t>Task B: bundle cố định
Task C: truy xuất và evidence gating</a:t>
            </a:r>
            <a:endParaRPr lang="vi-VN" sz="2100">
              <a:solidFill>
                <a:srgbClr val="172B43"/>
              </a:solidFill>
              <a:latin typeface="Arial" panose="020B0604020202020204" pitchFamily="34" charset="0"/>
              <a:cs typeface="Arial" panose="020B0604020202020204" pitchFamily="34" charset="0"/>
            </a:endParaRPr>
          </a:p>
        </p:txBody>
      </p:sp>
      <p:sp>
        <p:nvSpPr>
          <p:cNvPr id="16" name="Text Box 15"/>
          <p:cNvSpPr txBox="1"/>
          <p:nvPr/>
        </p:nvSpPr>
        <p:spPr>
          <a:xfrm>
            <a:off x="8318500" y="4889500"/>
            <a:ext cx="3302000" cy="838200"/>
          </a:xfrm>
          <a:prstGeom prst="rect">
            <a:avLst/>
          </a:prstGeom>
          <a:noFill/>
        </p:spPr>
        <p:txBody>
          <a:bodyPr wrap="square" lIns="0" tIns="0" rIns="0" bIns="0" rtlCol="0" anchor="t">
            <a:noAutofit/>
          </a:bodyPr>
          <a:p>
            <a:pPr algn="l">
              <a:lnSpc>
                <a:spcPct val="104000"/>
              </a:lnSpc>
              <a:spcBef>
                <a:spcPts val="0"/>
              </a:spcBef>
              <a:spcAft>
                <a:spcPts val="0"/>
              </a:spcAft>
            </a:pPr>
            <a:r>
              <a:rPr lang="vi-VN" sz="2000" b="1">
                <a:solidFill>
                  <a:srgbClr val="D5222A"/>
                </a:solidFill>
                <a:latin typeface="Arial" panose="020B0604020202020204" pitchFamily="34" charset="0"/>
                <a:cs typeface="Arial" panose="020B0604020202020204" pitchFamily="34" charset="0"/>
              </a:rPr>
              <a:t>Gold / tham chiếu chuẩn
ngoài runtime</a:t>
            </a:r>
            <a:endParaRPr lang="vi-VN" sz="2000" b="1">
              <a:solidFill>
                <a:srgbClr val="D5222A"/>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Corpus và hợp đồng tác vụ</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Nguồn: content contract §4; KOA-GuidelineBench rc0.2.0 (internal review candidate)</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06 / 15</a:t>
            </a:r>
            <a:endParaRPr lang="vi-VN" sz="1200">
              <a:solidFill>
                <a:srgbClr val="506074"/>
              </a:solidFill>
              <a:latin typeface="Arial" panose="020B0604020202020204" pitchFamily="34" charset="0"/>
              <a:cs typeface="Arial" panose="020B0604020202020204" pitchFamily="34" charset="0"/>
            </a:endParaRPr>
          </a:p>
        </p:txBody>
      </p:sp>
      <p:sp>
        <p:nvSpPr>
          <p:cNvPr id="7" name="Text Box 6"/>
          <p:cNvSpPr txBox="1"/>
          <p:nvPr/>
        </p:nvSpPr>
        <p:spPr>
          <a:xfrm>
            <a:off x="571500" y="1409700"/>
            <a:ext cx="4635500" cy="419100"/>
          </a:xfrm>
          <a:prstGeom prst="rect">
            <a:avLst/>
          </a:prstGeom>
          <a:noFill/>
        </p:spPr>
        <p:txBody>
          <a:bodyPr wrap="square" lIns="0" tIns="0" rIns="0" bIns="0" rtlCol="0" anchor="t">
            <a:noAutofit/>
          </a:bodyPr>
          <a:p>
            <a:pPr algn="l">
              <a:lnSpc>
                <a:spcPct val="104000"/>
              </a:lnSpc>
              <a:spcBef>
                <a:spcPts val="0"/>
              </a:spcBef>
              <a:spcAft>
                <a:spcPts val="0"/>
              </a:spcAft>
            </a:pPr>
            <a:r>
              <a:rPr lang="vi-VN" sz="2700" b="1">
                <a:solidFill>
                  <a:srgbClr val="194B93"/>
                </a:solidFill>
                <a:latin typeface="Arial" panose="020B0604020202020204" pitchFamily="34" charset="0"/>
                <a:cs typeface="Arial" panose="020B0604020202020204" pitchFamily="34" charset="0"/>
              </a:rPr>
              <a:t>276 EvidenceUnits</a:t>
            </a:r>
            <a:endParaRPr lang="vi-VN" sz="2700" b="1">
              <a:solidFill>
                <a:srgbClr val="194B93"/>
              </a:solidFill>
              <a:latin typeface="Arial" panose="020B0604020202020204" pitchFamily="34" charset="0"/>
              <a:cs typeface="Arial" panose="020B0604020202020204" pitchFamily="34" charset="0"/>
            </a:endParaRPr>
          </a:p>
        </p:txBody>
      </p:sp>
      <p:sp>
        <p:nvSpPr>
          <p:cNvPr id="8" name="Text Box 7"/>
          <p:cNvSpPr txBox="1"/>
          <p:nvPr/>
        </p:nvSpPr>
        <p:spPr>
          <a:xfrm>
            <a:off x="5461000" y="1460500"/>
            <a:ext cx="6159500" cy="381000"/>
          </a:xfrm>
          <a:prstGeom prst="rect">
            <a:avLst/>
          </a:prstGeom>
          <a:noFill/>
        </p:spPr>
        <p:txBody>
          <a:bodyPr wrap="square" lIns="0" tIns="0" rIns="0" bIns="0" rtlCol="0" anchor="t">
            <a:noAutofit/>
          </a:bodyPr>
          <a:p>
            <a:pPr algn="l">
              <a:lnSpc>
                <a:spcPct val="104000"/>
              </a:lnSpc>
              <a:spcBef>
                <a:spcPts val="0"/>
              </a:spcBef>
              <a:spcAft>
                <a:spcPts val="0"/>
              </a:spcAft>
            </a:pPr>
            <a:r>
              <a:rPr lang="vi-VN" sz="2100">
                <a:solidFill>
                  <a:srgbClr val="506074"/>
                </a:solidFill>
                <a:latin typeface="Arial" panose="020B0604020202020204" pitchFamily="34" charset="0"/>
                <a:cs typeface="Arial" panose="020B0604020202020204" pitchFamily="34" charset="0"/>
              </a:rPr>
              <a:t>170 SemanticIntents là metadata</a:t>
            </a:r>
            <a:endParaRPr lang="vi-VN" sz="2100">
              <a:solidFill>
                <a:srgbClr val="506074"/>
              </a:solidFill>
              <a:latin typeface="Arial" panose="020B0604020202020204" pitchFamily="34" charset="0"/>
              <a:cs typeface="Arial" panose="020B0604020202020204" pitchFamily="34" charset="0"/>
            </a:endParaRPr>
          </a:p>
        </p:txBody>
      </p:sp>
      <p:graphicFrame>
        <p:nvGraphicFramePr>
          <p:cNvPr id="9" name="Table 8"/>
          <p:cNvGraphicFramePr/>
          <p:nvPr/>
        </p:nvGraphicFramePr>
        <p:xfrm>
          <a:off x="571500" y="1981200"/>
          <a:ext cx="11049000" cy="2679700"/>
        </p:xfrm>
        <a:graphic>
          <a:graphicData uri="http://schemas.openxmlformats.org/drawingml/2006/table">
            <a:tbl>
              <a:tblPr firstRow="1" bandRow="1">
                <a:tableStyleId>{5C22544A-7EE6-4342-B048-85BDC9FD1C3A}</a:tableStyleId>
              </a:tblPr>
              <a:tblGrid>
                <a:gridCol w="2286000"/>
                <a:gridCol w="2984500"/>
                <a:gridCol w="825500"/>
                <a:gridCol w="1587500"/>
                <a:gridCol w="3365500"/>
              </a:tblGrid>
              <a:tr h="457200">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Nguồn</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Phiên bản</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EU</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Ngôn ngữ</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Registry scope</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r>
              <a:tr h="4445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ACSQHC</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2024</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32</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EN</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CURRENT</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r>
              <a:tr h="4445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BYT Vietnam</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2014</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39</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VI</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HISTORICAL</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r>
              <a:tr h="4445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EULAR</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2023 update / 2024</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24</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EN</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CURRENT</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r>
              <a:tr h="4445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NICE NG226</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2022</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84</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EN</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CURRENT</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r>
              <a:tr h="4445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VA/DoD</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2026</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97</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EN</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CURRENT</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r>
            </a:tbl>
          </a:graphicData>
        </a:graphic>
      </p:graphicFrame>
      <p:sp>
        <p:nvSpPr>
          <p:cNvPr id="10" name="Text Box 9"/>
          <p:cNvSpPr txBox="1"/>
          <p:nvPr/>
        </p:nvSpPr>
        <p:spPr>
          <a:xfrm>
            <a:off x="571500" y="4902200"/>
            <a:ext cx="1320800" cy="393700"/>
          </a:xfrm>
          <a:prstGeom prst="rect">
            <a:avLst/>
          </a:prstGeom>
          <a:noFill/>
        </p:spPr>
        <p:txBody>
          <a:bodyPr wrap="square" lIns="0" tIns="0" rIns="0" bIns="0" rtlCol="0" anchor="t">
            <a:noAutofit/>
          </a:bodyPr>
          <a:p>
            <a:pPr algn="l">
              <a:lnSpc>
                <a:spcPct val="104000"/>
              </a:lnSpc>
              <a:spcBef>
                <a:spcPts val="0"/>
              </a:spcBef>
              <a:spcAft>
                <a:spcPts val="0"/>
              </a:spcAft>
            </a:pPr>
            <a:r>
              <a:rPr lang="vi-VN" sz="2200" b="1">
                <a:solidFill>
                  <a:srgbClr val="194B93"/>
                </a:solidFill>
                <a:latin typeface="Arial" panose="020B0604020202020204" pitchFamily="34" charset="0"/>
                <a:cs typeface="Arial" panose="020B0604020202020204" pitchFamily="34" charset="0"/>
              </a:rPr>
              <a:t>Task B</a:t>
            </a:r>
            <a:endParaRPr lang="vi-VN" sz="2200" b="1">
              <a:solidFill>
                <a:srgbClr val="194B93"/>
              </a:solidFill>
              <a:latin typeface="Arial" panose="020B0604020202020204" pitchFamily="34" charset="0"/>
              <a:cs typeface="Arial" panose="020B0604020202020204" pitchFamily="34" charset="0"/>
            </a:endParaRPr>
          </a:p>
        </p:txBody>
      </p:sp>
      <p:sp>
        <p:nvSpPr>
          <p:cNvPr id="11" name="Text Box 10"/>
          <p:cNvSpPr txBox="1"/>
          <p:nvPr/>
        </p:nvSpPr>
        <p:spPr>
          <a:xfrm>
            <a:off x="2057400" y="4902200"/>
            <a:ext cx="9563100" cy="685800"/>
          </a:xfrm>
          <a:prstGeom prst="rect">
            <a:avLst/>
          </a:prstGeom>
          <a:noFill/>
        </p:spPr>
        <p:txBody>
          <a:bodyPr wrap="square" lIns="0" tIns="0" rIns="0" bIns="0" rtlCol="0" anchor="t">
            <a:noAutofit/>
          </a:bodyPr>
          <a:p>
            <a:pPr algn="l">
              <a:lnSpc>
                <a:spcPct val="104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5 cặp sufficiency, 10 lượt bundle, 9 bundle riêng, 4 intents</a:t>
            </a:r>
            <a:endParaRPr lang="vi-VN" sz="2000">
              <a:solidFill>
                <a:srgbClr val="172B43"/>
              </a:solidFill>
              <a:latin typeface="Arial" panose="020B0604020202020204" pitchFamily="34" charset="0"/>
              <a:cs typeface="Arial" panose="020B0604020202020204" pitchFamily="34" charset="0"/>
            </a:endParaRPr>
          </a:p>
        </p:txBody>
      </p:sp>
      <p:sp>
        <p:nvSpPr>
          <p:cNvPr id="12" name="Text Box 11"/>
          <p:cNvSpPr txBox="1"/>
          <p:nvPr/>
        </p:nvSpPr>
        <p:spPr>
          <a:xfrm>
            <a:off x="571500" y="5638800"/>
            <a:ext cx="1320800" cy="393700"/>
          </a:xfrm>
          <a:prstGeom prst="rect">
            <a:avLst/>
          </a:prstGeom>
          <a:noFill/>
        </p:spPr>
        <p:txBody>
          <a:bodyPr wrap="square" lIns="0" tIns="0" rIns="0" bIns="0" rtlCol="0" anchor="t">
            <a:noAutofit/>
          </a:bodyPr>
          <a:p>
            <a:pPr algn="l">
              <a:lnSpc>
                <a:spcPct val="104000"/>
              </a:lnSpc>
              <a:spcBef>
                <a:spcPts val="0"/>
              </a:spcBef>
              <a:spcAft>
                <a:spcPts val="0"/>
              </a:spcAft>
            </a:pPr>
            <a:r>
              <a:rPr lang="vi-VN" sz="2200" b="1">
                <a:solidFill>
                  <a:srgbClr val="194B93"/>
                </a:solidFill>
                <a:latin typeface="Arial" panose="020B0604020202020204" pitchFamily="34" charset="0"/>
                <a:cs typeface="Arial" panose="020B0604020202020204" pitchFamily="34" charset="0"/>
              </a:rPr>
              <a:t>Task C</a:t>
            </a:r>
            <a:endParaRPr lang="vi-VN" sz="2200" b="1">
              <a:solidFill>
                <a:srgbClr val="194B93"/>
              </a:solidFill>
              <a:latin typeface="Arial" panose="020B0604020202020204" pitchFamily="34" charset="0"/>
              <a:cs typeface="Arial" panose="020B0604020202020204" pitchFamily="34" charset="0"/>
            </a:endParaRPr>
          </a:p>
        </p:txBody>
      </p:sp>
      <p:sp>
        <p:nvSpPr>
          <p:cNvPr id="13" name="Text Box 12"/>
          <p:cNvSpPr txBox="1"/>
          <p:nvPr/>
        </p:nvSpPr>
        <p:spPr>
          <a:xfrm>
            <a:off x="2057400" y="5638800"/>
            <a:ext cx="9563100" cy="393700"/>
          </a:xfrm>
          <a:prstGeom prst="rect">
            <a:avLst/>
          </a:prstGeom>
          <a:noFill/>
        </p:spPr>
        <p:txBody>
          <a:bodyPr wrap="square" lIns="0" tIns="0" rIns="0" bIns="0" rtlCol="0" anchor="t">
            <a:noAutofit/>
          </a:bodyPr>
          <a:p>
            <a:pPr algn="l">
              <a:lnSpc>
                <a:spcPct val="104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16 ca Recovery DEV tiếng Anh cho E1-v2</a:t>
            </a:r>
            <a:endParaRPr lang="vi-VN" sz="2000">
              <a:solidFill>
                <a:srgbClr val="172B43"/>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Ranh giới dữ liệu và chống rò rỉ đánh giá</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Phỏng theo Hình 04: benchmark/evaluation boundary; BA1-D1 và BA1-D2</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07 / 15</a:t>
            </a:r>
            <a:endParaRPr lang="vi-VN" sz="1200">
              <a:solidFill>
                <a:srgbClr val="506074"/>
              </a:solidFill>
              <a:latin typeface="Arial" panose="020B0604020202020204" pitchFamily="34" charset="0"/>
              <a:cs typeface="Arial" panose="020B0604020202020204" pitchFamily="34" charset="0"/>
            </a:endParaRPr>
          </a:p>
        </p:txBody>
      </p:sp>
      <p:sp>
        <p:nvSpPr>
          <p:cNvPr id="7" name="Text Box 6"/>
          <p:cNvSpPr txBox="1"/>
          <p:nvPr/>
        </p:nvSpPr>
        <p:spPr>
          <a:xfrm>
            <a:off x="571500" y="1435100"/>
            <a:ext cx="11049000" cy="431800"/>
          </a:xfrm>
          <a:prstGeom prst="rect">
            <a:avLst/>
          </a:prstGeom>
          <a:noFill/>
        </p:spPr>
        <p:txBody>
          <a:bodyPr wrap="square" lIns="0" tIns="0" rIns="0" bIns="0" rtlCol="0" anchor="t">
            <a:noAutofit/>
          </a:bodyPr>
          <a:p>
            <a:pPr algn="l">
              <a:lnSpc>
                <a:spcPct val="104000"/>
              </a:lnSpc>
              <a:spcBef>
                <a:spcPts val="0"/>
              </a:spcBef>
              <a:spcAft>
                <a:spcPts val="0"/>
              </a:spcAft>
            </a:pPr>
            <a:r>
              <a:rPr lang="vi-VN" sz="2500" b="1">
                <a:solidFill>
                  <a:srgbClr val="194B93"/>
                </a:solidFill>
                <a:latin typeface="Arial" panose="020B0604020202020204" pitchFamily="34" charset="0"/>
                <a:cs typeface="Arial" panose="020B0604020202020204" pitchFamily="34" charset="0"/>
              </a:rPr>
              <a:t>Runtime chỉ nhận dữ liệu trong allowlist</a:t>
            </a:r>
            <a:endParaRPr lang="vi-VN" sz="2500" b="1">
              <a:solidFill>
                <a:srgbClr val="194B93"/>
              </a:solidFill>
              <a:latin typeface="Arial" panose="020B0604020202020204" pitchFamily="34" charset="0"/>
              <a:cs typeface="Arial" panose="020B0604020202020204" pitchFamily="34" charset="0"/>
            </a:endParaRPr>
          </a:p>
        </p:txBody>
      </p:sp>
      <p:sp>
        <p:nvSpPr>
          <p:cNvPr id="8" name="Text Box 7"/>
          <p:cNvSpPr txBox="1"/>
          <p:nvPr/>
        </p:nvSpPr>
        <p:spPr>
          <a:xfrm>
            <a:off x="571500" y="2247900"/>
            <a:ext cx="3429000" cy="393700"/>
          </a:xfrm>
          <a:prstGeom prst="rect">
            <a:avLst/>
          </a:prstGeom>
          <a:noFill/>
        </p:spPr>
        <p:txBody>
          <a:bodyPr wrap="square" lIns="0" tIns="0" rIns="0" bIns="0" rtlCol="0" anchor="t">
            <a:noAutofit/>
          </a:bodyPr>
          <a:p>
            <a:pPr algn="l">
              <a:lnSpc>
                <a:spcPct val="104000"/>
              </a:lnSpc>
              <a:spcBef>
                <a:spcPts val="0"/>
              </a:spcBef>
              <a:spcAft>
                <a:spcPts val="0"/>
              </a:spcAft>
            </a:pPr>
            <a:r>
              <a:rPr lang="vi-VN" b="1">
                <a:solidFill>
                  <a:srgbClr val="194B93"/>
                </a:solidFill>
                <a:latin typeface="Arial" panose="020B0604020202020204" pitchFamily="34" charset="0"/>
                <a:cs typeface="Arial" panose="020B0604020202020204" pitchFamily="34" charset="0"/>
              </a:rPr>
              <a:t>RUNTIME_VISIBLE</a:t>
            </a:r>
            <a:endParaRPr lang="vi-VN" b="1">
              <a:solidFill>
                <a:srgbClr val="194B93"/>
              </a:solidFill>
              <a:latin typeface="Arial" panose="020B0604020202020204" pitchFamily="34" charset="0"/>
              <a:cs typeface="Arial" panose="020B0604020202020204" pitchFamily="34" charset="0"/>
            </a:endParaRPr>
          </a:p>
        </p:txBody>
      </p:sp>
      <p:cxnSp>
        <p:nvCxnSpPr>
          <p:cNvPr id="9" name="Straight Connector 8"/>
          <p:cNvCxnSpPr/>
          <p:nvPr/>
        </p:nvCxnSpPr>
        <p:spPr>
          <a:xfrm>
            <a:off x="571500" y="2743200"/>
            <a:ext cx="3429000" cy="635"/>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sp>
        <p:nvSpPr>
          <p:cNvPr id="10" name="Text Box 9"/>
          <p:cNvSpPr txBox="1"/>
          <p:nvPr/>
        </p:nvSpPr>
        <p:spPr>
          <a:xfrm>
            <a:off x="571500" y="3048000"/>
            <a:ext cx="3429000" cy="2120900"/>
          </a:xfrm>
          <a:prstGeom prst="rect">
            <a:avLst/>
          </a:prstGeom>
          <a:noFill/>
        </p:spPr>
        <p:txBody>
          <a:bodyPr wrap="square" lIns="0" tIns="0" rIns="0" bIns="0" rtlCol="0" anchor="t">
            <a:noAutofit/>
          </a:bodyPr>
          <a:p>
            <a:pPr algn="l">
              <a:lnSpc>
                <a:spcPct val="104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Câu hỏi và source scope
EvidenceUnits hợp lệ
Citation locators</a:t>
            </a:r>
            <a:endParaRPr lang="vi-VN" sz="2000">
              <a:solidFill>
                <a:srgbClr val="172B43"/>
              </a:solidFill>
              <a:latin typeface="Arial" panose="020B0604020202020204" pitchFamily="34" charset="0"/>
              <a:cs typeface="Arial" panose="020B0604020202020204" pitchFamily="34" charset="0"/>
            </a:endParaRPr>
          </a:p>
        </p:txBody>
      </p:sp>
      <p:sp>
        <p:nvSpPr>
          <p:cNvPr id="11" name="Text Box 10"/>
          <p:cNvSpPr txBox="1"/>
          <p:nvPr/>
        </p:nvSpPr>
        <p:spPr>
          <a:xfrm>
            <a:off x="4381500" y="2247900"/>
            <a:ext cx="3429000" cy="393700"/>
          </a:xfrm>
          <a:prstGeom prst="rect">
            <a:avLst/>
          </a:prstGeom>
          <a:noFill/>
        </p:spPr>
        <p:txBody>
          <a:bodyPr wrap="square" lIns="0" tIns="0" rIns="0" bIns="0" rtlCol="0" anchor="t">
            <a:noAutofit/>
          </a:bodyPr>
          <a:p>
            <a:pPr algn="l">
              <a:lnSpc>
                <a:spcPct val="104000"/>
              </a:lnSpc>
              <a:spcBef>
                <a:spcPts val="0"/>
              </a:spcBef>
              <a:spcAft>
                <a:spcPts val="0"/>
              </a:spcAft>
            </a:pPr>
            <a:r>
              <a:rPr lang="vi-VN" b="1">
                <a:solidFill>
                  <a:srgbClr val="D5222A"/>
                </a:solidFill>
                <a:latin typeface="Arial" panose="020B0604020202020204" pitchFamily="34" charset="0"/>
                <a:cs typeface="Arial" panose="020B0604020202020204" pitchFamily="34" charset="0"/>
              </a:rPr>
              <a:t>EVALUATOR_ONLY</a:t>
            </a:r>
            <a:endParaRPr lang="vi-VN" b="1">
              <a:solidFill>
                <a:srgbClr val="D5222A"/>
              </a:solidFill>
              <a:latin typeface="Arial" panose="020B0604020202020204" pitchFamily="34" charset="0"/>
              <a:cs typeface="Arial" panose="020B0604020202020204" pitchFamily="34" charset="0"/>
            </a:endParaRPr>
          </a:p>
        </p:txBody>
      </p:sp>
      <p:cxnSp>
        <p:nvCxnSpPr>
          <p:cNvPr id="12" name="Straight Connector 11"/>
          <p:cNvCxnSpPr/>
          <p:nvPr/>
        </p:nvCxnSpPr>
        <p:spPr>
          <a:xfrm>
            <a:off x="4381500" y="2743200"/>
            <a:ext cx="3429000" cy="635"/>
          </a:xfrm>
          <a:prstGeom prst="line">
            <a:avLst/>
          </a:prstGeom>
          <a:ln w="20320">
            <a:solidFill>
              <a:srgbClr val="D5222A"/>
            </a:solidFill>
          </a:ln>
        </p:spPr>
        <p:style>
          <a:lnRef idx="2">
            <a:schemeClr val="accent1"/>
          </a:lnRef>
          <a:fillRef idx="0">
            <a:srgbClr val="FFFFFF"/>
          </a:fillRef>
          <a:effectRef idx="0">
            <a:srgbClr val="FFFFFF"/>
          </a:effectRef>
          <a:fontRef idx="minor">
            <a:schemeClr val="tx1"/>
          </a:fontRef>
        </p:style>
      </p:cxnSp>
      <p:sp>
        <p:nvSpPr>
          <p:cNvPr id="13" name="Text Box 12"/>
          <p:cNvSpPr txBox="1"/>
          <p:nvPr/>
        </p:nvSpPr>
        <p:spPr>
          <a:xfrm>
            <a:off x="4381500" y="3048000"/>
            <a:ext cx="3429000" cy="2120900"/>
          </a:xfrm>
          <a:prstGeom prst="rect">
            <a:avLst/>
          </a:prstGeom>
          <a:noFill/>
        </p:spPr>
        <p:txBody>
          <a:bodyPr wrap="square" lIns="0" tIns="0" rIns="0" bIns="0" rtlCol="0" anchor="t">
            <a:noAutofit/>
          </a:bodyPr>
          <a:p>
            <a:pPr algn="l">
              <a:lnSpc>
                <a:spcPct val="104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Canonical obligations
Reference answers
Gold dispositions</a:t>
            </a:r>
            <a:endParaRPr lang="vi-VN" sz="2000">
              <a:solidFill>
                <a:srgbClr val="172B43"/>
              </a:solidFill>
              <a:latin typeface="Arial" panose="020B0604020202020204" pitchFamily="34" charset="0"/>
              <a:cs typeface="Arial" panose="020B0604020202020204" pitchFamily="34" charset="0"/>
            </a:endParaRPr>
          </a:p>
        </p:txBody>
      </p:sp>
      <p:sp>
        <p:nvSpPr>
          <p:cNvPr id="14" name="Text Box 13"/>
          <p:cNvSpPr txBox="1"/>
          <p:nvPr/>
        </p:nvSpPr>
        <p:spPr>
          <a:xfrm>
            <a:off x="8191500" y="2247900"/>
            <a:ext cx="3429000" cy="393700"/>
          </a:xfrm>
          <a:prstGeom prst="rect">
            <a:avLst/>
          </a:prstGeom>
          <a:noFill/>
        </p:spPr>
        <p:txBody>
          <a:bodyPr wrap="square" lIns="0" tIns="0" rIns="0" bIns="0" rtlCol="0" anchor="t">
            <a:noAutofit/>
          </a:bodyPr>
          <a:p>
            <a:pPr algn="l">
              <a:lnSpc>
                <a:spcPct val="104000"/>
              </a:lnSpc>
              <a:spcBef>
                <a:spcPts val="0"/>
              </a:spcBef>
              <a:spcAft>
                <a:spcPts val="0"/>
              </a:spcAft>
            </a:pPr>
            <a:r>
              <a:rPr lang="vi-VN" b="1">
                <a:solidFill>
                  <a:srgbClr val="D5222A"/>
                </a:solidFill>
                <a:latin typeface="Arial" panose="020B0604020202020204" pitchFamily="34" charset="0"/>
                <a:cs typeface="Arial" panose="020B0604020202020204" pitchFamily="34" charset="0"/>
              </a:rPr>
              <a:t>REVIEWER_AUDIT_ONLY</a:t>
            </a:r>
            <a:endParaRPr lang="vi-VN" b="1">
              <a:solidFill>
                <a:srgbClr val="D5222A"/>
              </a:solidFill>
              <a:latin typeface="Arial" panose="020B0604020202020204" pitchFamily="34" charset="0"/>
              <a:cs typeface="Arial" panose="020B0604020202020204" pitchFamily="34" charset="0"/>
            </a:endParaRPr>
          </a:p>
        </p:txBody>
      </p:sp>
      <p:cxnSp>
        <p:nvCxnSpPr>
          <p:cNvPr id="15" name="Straight Connector 14"/>
          <p:cNvCxnSpPr/>
          <p:nvPr/>
        </p:nvCxnSpPr>
        <p:spPr>
          <a:xfrm>
            <a:off x="8191500" y="2743200"/>
            <a:ext cx="3429000" cy="635"/>
          </a:xfrm>
          <a:prstGeom prst="line">
            <a:avLst/>
          </a:prstGeom>
          <a:ln w="20320">
            <a:solidFill>
              <a:srgbClr val="D5222A"/>
            </a:solidFill>
          </a:ln>
        </p:spPr>
        <p:style>
          <a:lnRef idx="2">
            <a:schemeClr val="accent1"/>
          </a:lnRef>
          <a:fillRef idx="0">
            <a:srgbClr val="FFFFFF"/>
          </a:fillRef>
          <a:effectRef idx="0">
            <a:srgbClr val="FFFFFF"/>
          </a:effectRef>
          <a:fontRef idx="minor">
            <a:schemeClr val="tx1"/>
          </a:fontRef>
        </p:style>
      </p:cxnSp>
      <p:sp>
        <p:nvSpPr>
          <p:cNvPr id="16" name="Text Box 15"/>
          <p:cNvSpPr txBox="1"/>
          <p:nvPr/>
        </p:nvSpPr>
        <p:spPr>
          <a:xfrm>
            <a:off x="8191500" y="3048000"/>
            <a:ext cx="3429000" cy="2120900"/>
          </a:xfrm>
          <a:prstGeom prst="rect">
            <a:avLst/>
          </a:prstGeom>
          <a:noFill/>
        </p:spPr>
        <p:txBody>
          <a:bodyPr wrap="square" lIns="0" tIns="0" rIns="0" bIns="0" rtlCol="0" anchor="t">
            <a:noAutofit/>
          </a:bodyPr>
          <a:p>
            <a:pPr algn="l">
              <a:lnSpc>
                <a:spcPct val="104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Audit provenance
Identity và hashes
Dấu vết adjudication</a:t>
            </a:r>
            <a:endParaRPr lang="vi-VN" sz="2000">
              <a:solidFill>
                <a:srgbClr val="172B43"/>
              </a:solidFill>
              <a:latin typeface="Arial" panose="020B0604020202020204" pitchFamily="34" charset="0"/>
              <a:cs typeface="Arial" panose="020B0604020202020204" pitchFamily="34" charset="0"/>
            </a:endParaRPr>
          </a:p>
        </p:txBody>
      </p:sp>
      <p:sp>
        <p:nvSpPr>
          <p:cNvPr id="17" name="Text Box 16"/>
          <p:cNvSpPr txBox="1"/>
          <p:nvPr/>
        </p:nvSpPr>
        <p:spPr>
          <a:xfrm>
            <a:off x="571500" y="5562600"/>
            <a:ext cx="11049000" cy="431800"/>
          </a:xfrm>
          <a:prstGeom prst="rect">
            <a:avLst/>
          </a:prstGeom>
          <a:noFill/>
        </p:spPr>
        <p:txBody>
          <a:bodyPr wrap="square" lIns="0" tIns="0" rIns="0" bIns="0" rtlCol="0" anchor="t">
            <a:noAutofit/>
          </a:bodyPr>
          <a:p>
            <a:pPr algn="l">
              <a:lnSpc>
                <a:spcPct val="104000"/>
              </a:lnSpc>
              <a:spcBef>
                <a:spcPts val="0"/>
              </a:spcBef>
              <a:spcAft>
                <a:spcPts val="0"/>
              </a:spcAft>
            </a:pPr>
            <a:r>
              <a:rPr lang="vi-VN" sz="2500" b="1">
                <a:solidFill>
                  <a:srgbClr val="194B93"/>
                </a:solidFill>
                <a:latin typeface="Arial" panose="020B0604020202020204" pitchFamily="34" charset="0"/>
                <a:cs typeface="Arial" panose="020B0604020202020204" pitchFamily="34" charset="0"/>
              </a:rPr>
              <a:t>Planner dự đoán MaterialObligation[] từ câu hỏi</a:t>
            </a:r>
            <a:endParaRPr lang="vi-VN" sz="2500" b="1">
              <a:solidFill>
                <a:srgbClr val="194B93"/>
              </a:solidFill>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Kiến trúc DV-OGEC-RAG</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Phỏng theo Hình 02 và 03; method baseline ac4ade7; nội dung rút gọn</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08 / 15</a:t>
            </a:r>
            <a:endParaRPr lang="vi-VN" sz="1200">
              <a:solidFill>
                <a:srgbClr val="506074"/>
              </a:solidFill>
              <a:latin typeface="Arial" panose="020B0604020202020204" pitchFamily="34" charset="0"/>
              <a:cs typeface="Arial" panose="020B0604020202020204" pitchFamily="34" charset="0"/>
            </a:endParaRPr>
          </a:p>
        </p:txBody>
      </p:sp>
      <p:sp>
        <p:nvSpPr>
          <p:cNvPr id="7" name="Rectangle 6"/>
          <p:cNvSpPr/>
          <p:nvPr/>
        </p:nvSpPr>
        <p:spPr>
          <a:xfrm>
            <a:off x="571500" y="1587500"/>
            <a:ext cx="1905000" cy="9525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200">
                <a:solidFill>
                  <a:srgbClr val="172B43"/>
                </a:solidFill>
                <a:latin typeface="Arial" panose="020B0604020202020204" pitchFamily="34" charset="0"/>
                <a:cs typeface="Arial" panose="020B0604020202020204" pitchFamily="34" charset="0"/>
              </a:rPr>
              <a:t>Câu hỏi</a:t>
            </a:r>
            <a:endParaRPr lang="vi-VN" sz="2200">
              <a:solidFill>
                <a:srgbClr val="172B43"/>
              </a:solidFill>
              <a:latin typeface="Arial" panose="020B0604020202020204" pitchFamily="34" charset="0"/>
              <a:cs typeface="Arial" panose="020B0604020202020204" pitchFamily="34" charset="0"/>
            </a:endParaRPr>
          </a:p>
        </p:txBody>
      </p:sp>
      <p:sp>
        <p:nvSpPr>
          <p:cNvPr id="8" name="Rectangle 7"/>
          <p:cNvSpPr/>
          <p:nvPr/>
        </p:nvSpPr>
        <p:spPr>
          <a:xfrm>
            <a:off x="2921000" y="1587500"/>
            <a:ext cx="2286000" cy="9525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200">
                <a:solidFill>
                  <a:srgbClr val="172B43"/>
                </a:solidFill>
                <a:latin typeface="Arial" panose="020B0604020202020204" pitchFamily="34" charset="0"/>
                <a:cs typeface="Arial" panose="020B0604020202020204" pitchFamily="34" charset="0"/>
              </a:rPr>
              <a:t>Obligation
Planner</a:t>
            </a:r>
            <a:endParaRPr lang="vi-VN" sz="2200">
              <a:solidFill>
                <a:srgbClr val="172B43"/>
              </a:solidFill>
              <a:latin typeface="Arial" panose="020B0604020202020204" pitchFamily="34" charset="0"/>
              <a:cs typeface="Arial" panose="020B0604020202020204" pitchFamily="34" charset="0"/>
            </a:endParaRPr>
          </a:p>
        </p:txBody>
      </p:sp>
      <p:sp>
        <p:nvSpPr>
          <p:cNvPr id="9" name="Rectangle 8"/>
          <p:cNvSpPr/>
          <p:nvPr/>
        </p:nvSpPr>
        <p:spPr>
          <a:xfrm>
            <a:off x="5651500" y="1587500"/>
            <a:ext cx="2413000" cy="9525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MedCPT + FAISS
Initial ≤ 1</a:t>
            </a:r>
            <a:endParaRPr lang="vi-VN" sz="2000">
              <a:solidFill>
                <a:srgbClr val="172B43"/>
              </a:solidFill>
              <a:latin typeface="Arial" panose="020B0604020202020204" pitchFamily="34" charset="0"/>
              <a:cs typeface="Arial" panose="020B0604020202020204" pitchFamily="34" charset="0"/>
            </a:endParaRPr>
          </a:p>
        </p:txBody>
      </p:sp>
      <p:sp>
        <p:nvSpPr>
          <p:cNvPr id="10" name="Rectangle 9"/>
          <p:cNvSpPr/>
          <p:nvPr/>
        </p:nvSpPr>
        <p:spPr>
          <a:xfrm>
            <a:off x="8509000" y="1587500"/>
            <a:ext cx="3111500" cy="9525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1850">
                <a:solidFill>
                  <a:srgbClr val="172B43"/>
                </a:solidFill>
                <a:latin typeface="Arial" panose="020B0604020202020204" pitchFamily="34" charset="0"/>
                <a:cs typeface="Arial" panose="020B0604020202020204" pitchFamily="34" charset="0"/>
              </a:rPr>
              <a:t>PRE gate
Fail sau recheck: ABSTAIN</a:t>
            </a:r>
            <a:endParaRPr lang="vi-VN" sz="1850">
              <a:solidFill>
                <a:srgbClr val="172B43"/>
              </a:solidFill>
              <a:latin typeface="Arial" panose="020B0604020202020204" pitchFamily="34" charset="0"/>
              <a:cs typeface="Arial" panose="020B0604020202020204" pitchFamily="34" charset="0"/>
            </a:endParaRPr>
          </a:p>
        </p:txBody>
      </p:sp>
      <p:cxnSp>
        <p:nvCxnSpPr>
          <p:cNvPr id="11" name="Straight Connector 10"/>
          <p:cNvCxnSpPr/>
          <p:nvPr/>
        </p:nvCxnSpPr>
        <p:spPr>
          <a:xfrm>
            <a:off x="2476500" y="2057400"/>
            <a:ext cx="4445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cxnSp>
        <p:nvCxnSpPr>
          <p:cNvPr id="12" name="Straight Connector 11"/>
          <p:cNvCxnSpPr/>
          <p:nvPr/>
        </p:nvCxnSpPr>
        <p:spPr>
          <a:xfrm>
            <a:off x="5207000" y="2057400"/>
            <a:ext cx="4445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cxnSp>
        <p:nvCxnSpPr>
          <p:cNvPr id="13" name="Straight Connector 12"/>
          <p:cNvCxnSpPr/>
          <p:nvPr/>
        </p:nvCxnSpPr>
        <p:spPr>
          <a:xfrm>
            <a:off x="8064500" y="2057400"/>
            <a:ext cx="4445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cxnSp>
        <p:nvCxnSpPr>
          <p:cNvPr id="14" name="Straight Connector 13"/>
          <p:cNvCxnSpPr/>
          <p:nvPr/>
        </p:nvCxnSpPr>
        <p:spPr>
          <a:xfrm>
            <a:off x="10058400" y="2540000"/>
            <a:ext cx="635" cy="254000"/>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15" name="Straight Connector 14"/>
          <p:cNvCxnSpPr/>
          <p:nvPr/>
        </p:nvCxnSpPr>
        <p:spPr>
          <a:xfrm flipH="1">
            <a:off x="1714500" y="2794000"/>
            <a:ext cx="8343900" cy="635"/>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16" name="Straight Connector 15"/>
          <p:cNvCxnSpPr/>
          <p:nvPr/>
        </p:nvCxnSpPr>
        <p:spPr>
          <a:xfrm>
            <a:off x="1714500" y="2794000"/>
            <a:ext cx="635" cy="1384300"/>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17" name="Text Box 16"/>
          <p:cNvSpPr txBox="1"/>
          <p:nvPr/>
        </p:nvSpPr>
        <p:spPr>
          <a:xfrm>
            <a:off x="1955800" y="2870200"/>
            <a:ext cx="1079500" cy="317500"/>
          </a:xfrm>
          <a:prstGeom prst="rect">
            <a:avLst/>
          </a:prstGeom>
          <a:noFill/>
        </p:spPr>
        <p:txBody>
          <a:bodyPr wrap="square" lIns="0" tIns="0" rIns="0" bIns="0" rtlCol="0" anchor="t">
            <a:noAutofit/>
          </a:bodyPr>
          <a:p>
            <a:pPr algn="l">
              <a:lnSpc>
                <a:spcPct val="104000"/>
              </a:lnSpc>
              <a:spcBef>
                <a:spcPts val="0"/>
              </a:spcBef>
              <a:spcAft>
                <a:spcPts val="0"/>
              </a:spcAft>
            </a:pPr>
            <a:r>
              <a:rPr lang="vi-VN" b="1">
                <a:solidFill>
                  <a:srgbClr val="194B93"/>
                </a:solidFill>
                <a:latin typeface="Arial" panose="020B0604020202020204" pitchFamily="34" charset="0"/>
                <a:cs typeface="Arial" panose="020B0604020202020204" pitchFamily="34" charset="0"/>
              </a:rPr>
              <a:t>READY</a:t>
            </a:r>
            <a:endParaRPr lang="vi-VN" b="1">
              <a:solidFill>
                <a:srgbClr val="194B93"/>
              </a:solidFill>
              <a:latin typeface="Arial" panose="020B0604020202020204" pitchFamily="34" charset="0"/>
              <a:cs typeface="Arial" panose="020B0604020202020204" pitchFamily="34" charset="0"/>
            </a:endParaRPr>
          </a:p>
        </p:txBody>
      </p:sp>
      <p:sp>
        <p:nvSpPr>
          <p:cNvPr id="18" name="Text Box 17"/>
          <p:cNvSpPr txBox="1"/>
          <p:nvPr/>
        </p:nvSpPr>
        <p:spPr>
          <a:xfrm>
            <a:off x="3238500" y="3111500"/>
            <a:ext cx="4762500" cy="825500"/>
          </a:xfrm>
          <a:prstGeom prst="rect">
            <a:avLst/>
          </a:prstGeom>
          <a:noFill/>
        </p:spPr>
        <p:txBody>
          <a:bodyPr wrap="square" lIns="0" tIns="0" rIns="0" bIns="0" rtlCol="0" anchor="t">
            <a:noAutofit/>
          </a:bodyPr>
          <a:p>
            <a:pPr algn="l">
              <a:lnSpc>
                <a:spcPct val="104000"/>
              </a:lnSpc>
              <a:spcBef>
                <a:spcPts val="0"/>
              </a:spcBef>
              <a:spcAft>
                <a:spcPts val="0"/>
              </a:spcAft>
            </a:pPr>
            <a:r>
              <a:rPr lang="vi-VN" sz="2000">
                <a:solidFill>
                  <a:srgbClr val="506074"/>
                </a:solidFill>
                <a:latin typeface="Arial" panose="020B0604020202020204" pitchFamily="34" charset="0"/>
                <a:cs typeface="Arial" panose="020B0604020202020204" pitchFamily="34" charset="0"/>
              </a:rPr>
              <a:t>EvidenceMemory
E₀ hoặc E₀ ∪ E₁ + provenance</a:t>
            </a:r>
            <a:endParaRPr lang="vi-VN" sz="2000">
              <a:solidFill>
                <a:srgbClr val="506074"/>
              </a:solidFill>
              <a:latin typeface="Arial" panose="020B0604020202020204" pitchFamily="34" charset="0"/>
              <a:cs typeface="Arial" panose="020B0604020202020204" pitchFamily="34" charset="0"/>
            </a:endParaRPr>
          </a:p>
        </p:txBody>
      </p:sp>
      <p:sp>
        <p:nvSpPr>
          <p:cNvPr id="19" name="Rectangle 18"/>
          <p:cNvSpPr/>
          <p:nvPr/>
        </p:nvSpPr>
        <p:spPr>
          <a:xfrm>
            <a:off x="8445500" y="3060700"/>
            <a:ext cx="3175000" cy="10287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a:solidFill>
                  <a:srgbClr val="172B43"/>
                </a:solidFill>
                <a:latin typeface="Arial" panose="020B0604020202020204" pitchFamily="34" charset="0"/>
                <a:cs typeface="Arial" panose="020B0604020202020204" pitchFamily="34" charset="0"/>
              </a:rPr>
              <a:t>Nếu thiếu và còn lượt
Corrective retrieval ≤ 1
Merge và PRE kiểm lại</a:t>
            </a:r>
            <a:endParaRPr lang="vi-VN">
              <a:solidFill>
                <a:srgbClr val="172B43"/>
              </a:solidFill>
              <a:latin typeface="Arial" panose="020B0604020202020204" pitchFamily="34" charset="0"/>
              <a:cs typeface="Arial" panose="020B0604020202020204" pitchFamily="34" charset="0"/>
            </a:endParaRPr>
          </a:p>
        </p:txBody>
      </p:sp>
      <p:cxnSp>
        <p:nvCxnSpPr>
          <p:cNvPr id="20" name="Straight Connector 19"/>
          <p:cNvCxnSpPr/>
          <p:nvPr/>
        </p:nvCxnSpPr>
        <p:spPr>
          <a:xfrm>
            <a:off x="11620500" y="1879600"/>
            <a:ext cx="241300" cy="635"/>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21" name="Straight Connector 20"/>
          <p:cNvCxnSpPr/>
          <p:nvPr/>
        </p:nvCxnSpPr>
        <p:spPr>
          <a:xfrm>
            <a:off x="11861800" y="1879600"/>
            <a:ext cx="635" cy="1701800"/>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22" name="Straight Connector 21"/>
          <p:cNvCxnSpPr/>
          <p:nvPr/>
        </p:nvCxnSpPr>
        <p:spPr>
          <a:xfrm flipH="1">
            <a:off x="11620500" y="3581400"/>
            <a:ext cx="2413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cxnSp>
        <p:nvCxnSpPr>
          <p:cNvPr id="23" name="Straight Connector 22"/>
          <p:cNvCxnSpPr/>
          <p:nvPr/>
        </p:nvCxnSpPr>
        <p:spPr>
          <a:xfrm flipH="1">
            <a:off x="8204200" y="3581400"/>
            <a:ext cx="241300" cy="635"/>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24" name="Straight Connector 23"/>
          <p:cNvCxnSpPr/>
          <p:nvPr/>
        </p:nvCxnSpPr>
        <p:spPr>
          <a:xfrm flipV="1">
            <a:off x="8204200" y="2349500"/>
            <a:ext cx="635" cy="1231900"/>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25" name="Straight Connector 24"/>
          <p:cNvCxnSpPr/>
          <p:nvPr/>
        </p:nvCxnSpPr>
        <p:spPr>
          <a:xfrm>
            <a:off x="8204200" y="2349500"/>
            <a:ext cx="3048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26" name="Rectangle 25"/>
          <p:cNvSpPr/>
          <p:nvPr/>
        </p:nvSpPr>
        <p:spPr>
          <a:xfrm>
            <a:off x="571500" y="4178300"/>
            <a:ext cx="2286000" cy="9144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200">
                <a:solidFill>
                  <a:srgbClr val="172B43"/>
                </a:solidFill>
                <a:latin typeface="Arial" panose="020B0604020202020204" pitchFamily="34" charset="0"/>
                <a:cs typeface="Arial" panose="020B0604020202020204" pitchFamily="34" charset="0"/>
              </a:rPr>
              <a:t>Generator</a:t>
            </a:r>
            <a:endParaRPr lang="vi-VN" sz="2200">
              <a:solidFill>
                <a:srgbClr val="172B43"/>
              </a:solidFill>
              <a:latin typeface="Arial" panose="020B0604020202020204" pitchFamily="34" charset="0"/>
              <a:cs typeface="Arial" panose="020B0604020202020204" pitchFamily="34" charset="0"/>
            </a:endParaRPr>
          </a:p>
        </p:txBody>
      </p:sp>
      <p:sp>
        <p:nvSpPr>
          <p:cNvPr id="27" name="Rectangle 26"/>
          <p:cNvSpPr/>
          <p:nvPr/>
        </p:nvSpPr>
        <p:spPr>
          <a:xfrm>
            <a:off x="3429000" y="4178300"/>
            <a:ext cx="2286000" cy="9144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Claim
Decomposer</a:t>
            </a:r>
            <a:endParaRPr lang="vi-VN" sz="2000">
              <a:solidFill>
                <a:srgbClr val="172B43"/>
              </a:solidFill>
              <a:latin typeface="Arial" panose="020B0604020202020204" pitchFamily="34" charset="0"/>
              <a:cs typeface="Arial" panose="020B0604020202020204" pitchFamily="34" charset="0"/>
            </a:endParaRPr>
          </a:p>
        </p:txBody>
      </p:sp>
      <p:sp>
        <p:nvSpPr>
          <p:cNvPr id="28" name="Rectangle 27"/>
          <p:cNvSpPr/>
          <p:nvPr/>
        </p:nvSpPr>
        <p:spPr>
          <a:xfrm>
            <a:off x="6286500" y="4178300"/>
            <a:ext cx="2286000" cy="9144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Staged POST v4</a:t>
            </a:r>
            <a:endParaRPr lang="vi-VN" sz="2000">
              <a:solidFill>
                <a:srgbClr val="172B43"/>
              </a:solidFill>
              <a:latin typeface="Arial" panose="020B0604020202020204" pitchFamily="34" charset="0"/>
              <a:cs typeface="Arial" panose="020B0604020202020204" pitchFamily="34" charset="0"/>
            </a:endParaRPr>
          </a:p>
        </p:txBody>
      </p:sp>
      <p:sp>
        <p:nvSpPr>
          <p:cNvPr id="29" name="Rectangle 28"/>
          <p:cNvSpPr/>
          <p:nvPr/>
        </p:nvSpPr>
        <p:spPr>
          <a:xfrm>
            <a:off x="9144000" y="4178300"/>
            <a:ext cx="2476500" cy="10668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a:solidFill>
                  <a:srgbClr val="172B43"/>
                </a:solidFill>
                <a:latin typeface="Arial" panose="020B0604020202020204" pitchFamily="34" charset="0"/>
                <a:cs typeface="Arial" panose="020B0604020202020204" pitchFamily="34" charset="0"/>
              </a:rPr>
              <a:t>POST gate + PolicyGuard
ACCEPT / ABSTAIN</a:t>
            </a:r>
            <a:endParaRPr lang="vi-VN">
              <a:solidFill>
                <a:srgbClr val="172B43"/>
              </a:solidFill>
              <a:latin typeface="Arial" panose="020B0604020202020204" pitchFamily="34" charset="0"/>
              <a:cs typeface="Arial" panose="020B0604020202020204" pitchFamily="34" charset="0"/>
            </a:endParaRPr>
          </a:p>
        </p:txBody>
      </p:sp>
      <p:cxnSp>
        <p:nvCxnSpPr>
          <p:cNvPr id="30" name="Straight Connector 29"/>
          <p:cNvCxnSpPr/>
          <p:nvPr/>
        </p:nvCxnSpPr>
        <p:spPr>
          <a:xfrm>
            <a:off x="2857500" y="4635500"/>
            <a:ext cx="5715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cxnSp>
        <p:nvCxnSpPr>
          <p:cNvPr id="31" name="Straight Connector 30"/>
          <p:cNvCxnSpPr/>
          <p:nvPr/>
        </p:nvCxnSpPr>
        <p:spPr>
          <a:xfrm>
            <a:off x="5715000" y="4635500"/>
            <a:ext cx="5715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cxnSp>
        <p:nvCxnSpPr>
          <p:cNvPr id="32" name="Straight Connector 31"/>
          <p:cNvCxnSpPr/>
          <p:nvPr/>
        </p:nvCxnSpPr>
        <p:spPr>
          <a:xfrm>
            <a:off x="8572500" y="4635500"/>
            <a:ext cx="5715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33" name="Rectangle 32"/>
          <p:cNvSpPr/>
          <p:nvPr/>
        </p:nvSpPr>
        <p:spPr>
          <a:xfrm>
            <a:off x="3429000" y="5334000"/>
            <a:ext cx="5143500" cy="6985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a:solidFill>
                  <a:srgbClr val="172B43"/>
                </a:solidFill>
                <a:latin typeface="Arial" panose="020B0604020202020204" pitchFamily="34" charset="0"/>
                <a:cs typeface="Arial" panose="020B0604020202020204" pitchFamily="34" charset="0"/>
              </a:rPr>
              <a:t>Revision ≤ 1, chỉ memory hiện có
Decompose và POST mới</a:t>
            </a:r>
            <a:endParaRPr lang="vi-VN">
              <a:solidFill>
                <a:srgbClr val="172B43"/>
              </a:solidFill>
              <a:latin typeface="Arial" panose="020B0604020202020204" pitchFamily="34" charset="0"/>
              <a:cs typeface="Arial" panose="020B0604020202020204" pitchFamily="34" charset="0"/>
            </a:endParaRPr>
          </a:p>
        </p:txBody>
      </p:sp>
      <p:cxnSp>
        <p:nvCxnSpPr>
          <p:cNvPr id="34" name="Straight Connector 33"/>
          <p:cNvCxnSpPr/>
          <p:nvPr/>
        </p:nvCxnSpPr>
        <p:spPr>
          <a:xfrm>
            <a:off x="7429500" y="5092700"/>
            <a:ext cx="635" cy="241300"/>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cxnSp>
        <p:nvCxnSpPr>
          <p:cNvPr id="35" name="Straight Connector 34"/>
          <p:cNvCxnSpPr/>
          <p:nvPr/>
        </p:nvCxnSpPr>
        <p:spPr>
          <a:xfrm flipH="1">
            <a:off x="3124200" y="5676900"/>
            <a:ext cx="304800" cy="635"/>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36" name="Straight Connector 35"/>
          <p:cNvCxnSpPr/>
          <p:nvPr/>
        </p:nvCxnSpPr>
        <p:spPr>
          <a:xfrm flipV="1">
            <a:off x="3124200" y="4635500"/>
            <a:ext cx="635" cy="1041400"/>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37" name="Straight Connector 36"/>
          <p:cNvCxnSpPr/>
          <p:nvPr/>
        </p:nvCxnSpPr>
        <p:spPr>
          <a:xfrm>
            <a:off x="3124200" y="4635500"/>
            <a:ext cx="3048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38" name="Text Box 37"/>
          <p:cNvSpPr txBox="1"/>
          <p:nvPr/>
        </p:nvSpPr>
        <p:spPr>
          <a:xfrm>
            <a:off x="571500" y="6096000"/>
            <a:ext cx="11049000" cy="304800"/>
          </a:xfrm>
          <a:prstGeom prst="rect">
            <a:avLst/>
          </a:prstGeom>
          <a:noFill/>
        </p:spPr>
        <p:txBody>
          <a:bodyPr wrap="square" lIns="0" tIns="0" rIns="0" bIns="0" rtlCol="0" anchor="t">
            <a:noAutofit/>
          </a:bodyPr>
          <a:p>
            <a:pPr algn="l">
              <a:lnSpc>
                <a:spcPct val="104000"/>
              </a:lnSpc>
              <a:spcBef>
                <a:spcPts val="0"/>
              </a:spcBef>
              <a:spcAft>
                <a:spcPts val="0"/>
              </a:spcAft>
            </a:pPr>
            <a:r>
              <a:rPr lang="vi-VN">
                <a:solidFill>
                  <a:srgbClr val="D5222A"/>
                </a:solidFill>
                <a:latin typeface="Arial" panose="020B0604020202020204" pitchFamily="34" charset="0"/>
                <a:cs typeface="Arial" panose="020B0604020202020204" pitchFamily="34" charset="0"/>
              </a:rPr>
              <a:t>Mọi action có hiệu lực đều qua guard xác định. Lỗi kỹ thuật: FAILED_*</a:t>
            </a:r>
            <a:endParaRPr lang="vi-VN">
              <a:solidFill>
                <a:srgbClr val="D5222A"/>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PRE và vòng truy xuất bổ sung</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Nguồn: workflow Steps 2–4; FULL readiness áp dụng cho A0/A1</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09 / 15</a:t>
            </a:r>
            <a:endParaRPr lang="vi-VN" sz="1200">
              <a:solidFill>
                <a:srgbClr val="506074"/>
              </a:solidFill>
              <a:latin typeface="Arial" panose="020B0604020202020204" pitchFamily="34" charset="0"/>
              <a:cs typeface="Arial" panose="020B0604020202020204" pitchFamily="34" charset="0"/>
            </a:endParaRPr>
          </a:p>
        </p:txBody>
      </p:sp>
      <p:sp>
        <p:nvSpPr>
          <p:cNvPr id="7" name="Rectangle 6"/>
          <p:cNvSpPr/>
          <p:nvPr/>
        </p:nvSpPr>
        <p:spPr>
          <a:xfrm>
            <a:off x="571500" y="1587500"/>
            <a:ext cx="3048000" cy="9271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300">
                <a:solidFill>
                  <a:srgbClr val="172B43"/>
                </a:solidFill>
                <a:latin typeface="Arial" panose="020B0604020202020204" pitchFamily="34" charset="0"/>
                <a:cs typeface="Arial" panose="020B0604020202020204" pitchFamily="34" charset="0"/>
              </a:rPr>
              <a:t>PRE trên E₀</a:t>
            </a:r>
            <a:endParaRPr lang="vi-VN" sz="2300">
              <a:solidFill>
                <a:srgbClr val="172B43"/>
              </a:solidFill>
              <a:latin typeface="Arial" panose="020B0604020202020204" pitchFamily="34" charset="0"/>
              <a:cs typeface="Arial" panose="020B0604020202020204" pitchFamily="34" charset="0"/>
            </a:endParaRPr>
          </a:p>
        </p:txBody>
      </p:sp>
      <p:sp>
        <p:nvSpPr>
          <p:cNvPr id="8" name="Rectangle 7"/>
          <p:cNvSpPr/>
          <p:nvPr/>
        </p:nvSpPr>
        <p:spPr>
          <a:xfrm>
            <a:off x="4572000" y="1587500"/>
            <a:ext cx="2984500" cy="9271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100">
                <a:solidFill>
                  <a:srgbClr val="172B43"/>
                </a:solidFill>
                <a:latin typeface="Arial" panose="020B0604020202020204" pitchFamily="34" charset="0"/>
                <a:cs typeface="Arial" panose="020B0604020202020204" pitchFamily="34" charset="0"/>
              </a:rPr>
              <a:t>Readiness
reducer</a:t>
            </a:r>
            <a:endParaRPr lang="vi-VN" sz="2100">
              <a:solidFill>
                <a:srgbClr val="172B43"/>
              </a:solidFill>
              <a:latin typeface="Arial" panose="020B0604020202020204" pitchFamily="34" charset="0"/>
              <a:cs typeface="Arial" panose="020B0604020202020204" pitchFamily="34" charset="0"/>
            </a:endParaRPr>
          </a:p>
        </p:txBody>
      </p:sp>
      <p:sp>
        <p:nvSpPr>
          <p:cNvPr id="9" name="Rectangle 8"/>
          <p:cNvSpPr/>
          <p:nvPr/>
        </p:nvSpPr>
        <p:spPr>
          <a:xfrm>
            <a:off x="9398000" y="1587500"/>
            <a:ext cx="2222500" cy="9271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100">
                <a:solidFill>
                  <a:srgbClr val="172B43"/>
                </a:solidFill>
                <a:latin typeface="Arial" panose="020B0604020202020204" pitchFamily="34" charset="0"/>
                <a:cs typeface="Arial" panose="020B0604020202020204" pitchFamily="34" charset="0"/>
              </a:rPr>
              <a:t>GENERATE</a:t>
            </a:r>
            <a:endParaRPr lang="vi-VN" sz="2100">
              <a:solidFill>
                <a:srgbClr val="172B43"/>
              </a:solidFill>
              <a:latin typeface="Arial" panose="020B0604020202020204" pitchFamily="34" charset="0"/>
              <a:cs typeface="Arial" panose="020B0604020202020204" pitchFamily="34" charset="0"/>
            </a:endParaRPr>
          </a:p>
        </p:txBody>
      </p:sp>
      <p:cxnSp>
        <p:nvCxnSpPr>
          <p:cNvPr id="10" name="Straight Connector 9"/>
          <p:cNvCxnSpPr/>
          <p:nvPr/>
        </p:nvCxnSpPr>
        <p:spPr>
          <a:xfrm>
            <a:off x="3619500" y="2044700"/>
            <a:ext cx="9525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cxnSp>
        <p:nvCxnSpPr>
          <p:cNvPr id="11" name="Straight Connector 10"/>
          <p:cNvCxnSpPr/>
          <p:nvPr/>
        </p:nvCxnSpPr>
        <p:spPr>
          <a:xfrm>
            <a:off x="7556500" y="2044700"/>
            <a:ext cx="18415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12" name="Text Box 11"/>
          <p:cNvSpPr txBox="1"/>
          <p:nvPr/>
        </p:nvSpPr>
        <p:spPr>
          <a:xfrm>
            <a:off x="7962900" y="1612900"/>
            <a:ext cx="1181100" cy="330200"/>
          </a:xfrm>
          <a:prstGeom prst="rect">
            <a:avLst/>
          </a:prstGeom>
          <a:noFill/>
        </p:spPr>
        <p:txBody>
          <a:bodyPr wrap="square" lIns="0" tIns="0" rIns="0" bIns="0" rtlCol="0" anchor="t">
            <a:noAutofit/>
          </a:bodyPr>
          <a:p>
            <a:pPr algn="ctr">
              <a:lnSpc>
                <a:spcPct val="104000"/>
              </a:lnSpc>
              <a:spcBef>
                <a:spcPts val="0"/>
              </a:spcBef>
              <a:spcAft>
                <a:spcPts val="0"/>
              </a:spcAft>
            </a:pPr>
            <a:r>
              <a:rPr lang="vi-VN" sz="1600" b="1">
                <a:solidFill>
                  <a:srgbClr val="194B93"/>
                </a:solidFill>
                <a:latin typeface="Arial" panose="020B0604020202020204" pitchFamily="34" charset="0"/>
                <a:cs typeface="Arial" panose="020B0604020202020204" pitchFamily="34" charset="0"/>
              </a:rPr>
              <a:t>READY</a:t>
            </a:r>
            <a:endParaRPr lang="vi-VN" sz="1600" b="1">
              <a:solidFill>
                <a:srgbClr val="194B93"/>
              </a:solidFill>
              <a:latin typeface="Arial" panose="020B0604020202020204" pitchFamily="34" charset="0"/>
              <a:cs typeface="Arial" panose="020B0604020202020204" pitchFamily="34" charset="0"/>
            </a:endParaRPr>
          </a:p>
        </p:txBody>
      </p:sp>
      <p:sp>
        <p:nvSpPr>
          <p:cNvPr id="13" name="Rectangle 12"/>
          <p:cNvSpPr/>
          <p:nvPr/>
        </p:nvSpPr>
        <p:spPr>
          <a:xfrm>
            <a:off x="4572000" y="3378200"/>
            <a:ext cx="2984500" cy="9525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a:solidFill>
                  <a:srgbClr val="172B43"/>
                </a:solidFill>
                <a:latin typeface="Arial" panose="020B0604020202020204" pitchFamily="34" charset="0"/>
                <a:cs typeface="Arial" panose="020B0604020202020204" pitchFamily="34" charset="0"/>
              </a:rPr>
              <a:t>Corrective retrieval ≤ 1
Query theo obligation/gap</a:t>
            </a:r>
            <a:endParaRPr lang="vi-VN">
              <a:solidFill>
                <a:srgbClr val="172B43"/>
              </a:solidFill>
              <a:latin typeface="Arial" panose="020B0604020202020204" pitchFamily="34" charset="0"/>
              <a:cs typeface="Arial" panose="020B0604020202020204" pitchFamily="34" charset="0"/>
            </a:endParaRPr>
          </a:p>
        </p:txBody>
      </p:sp>
      <p:sp>
        <p:nvSpPr>
          <p:cNvPr id="14" name="Rectangle 13"/>
          <p:cNvSpPr/>
          <p:nvPr/>
        </p:nvSpPr>
        <p:spPr>
          <a:xfrm>
            <a:off x="8509000" y="3378200"/>
            <a:ext cx="3111500" cy="9525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PRE kiểm lại bắt buộc
trên E₀ ∪ E₁</a:t>
            </a:r>
            <a:endParaRPr lang="vi-VN" sz="2000">
              <a:solidFill>
                <a:srgbClr val="172B43"/>
              </a:solidFill>
              <a:latin typeface="Arial" panose="020B0604020202020204" pitchFamily="34" charset="0"/>
              <a:cs typeface="Arial" panose="020B0604020202020204" pitchFamily="34" charset="0"/>
            </a:endParaRPr>
          </a:p>
        </p:txBody>
      </p:sp>
      <p:cxnSp>
        <p:nvCxnSpPr>
          <p:cNvPr id="15" name="Straight Connector 14"/>
          <p:cNvCxnSpPr/>
          <p:nvPr/>
        </p:nvCxnSpPr>
        <p:spPr>
          <a:xfrm>
            <a:off x="6057900" y="2514600"/>
            <a:ext cx="635" cy="863600"/>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16" name="Text Box 15"/>
          <p:cNvSpPr txBox="1"/>
          <p:nvPr/>
        </p:nvSpPr>
        <p:spPr>
          <a:xfrm>
            <a:off x="6350000" y="2667000"/>
            <a:ext cx="215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a:solidFill>
                  <a:srgbClr val="506074"/>
                </a:solidFill>
                <a:latin typeface="Arial" panose="020B0604020202020204" pitchFamily="34" charset="0"/>
                <a:cs typeface="Arial" panose="020B0604020202020204" pitchFamily="34" charset="0"/>
              </a:rPr>
              <a:t>INSUFFICIENT
và còn lượt</a:t>
            </a:r>
            <a:endParaRPr lang="vi-VN">
              <a:solidFill>
                <a:srgbClr val="506074"/>
              </a:solidFill>
              <a:latin typeface="Arial" panose="020B0604020202020204" pitchFamily="34" charset="0"/>
              <a:cs typeface="Arial" panose="020B0604020202020204" pitchFamily="34" charset="0"/>
            </a:endParaRPr>
          </a:p>
        </p:txBody>
      </p:sp>
      <p:cxnSp>
        <p:nvCxnSpPr>
          <p:cNvPr id="17" name="Straight Connector 16"/>
          <p:cNvCxnSpPr/>
          <p:nvPr/>
        </p:nvCxnSpPr>
        <p:spPr>
          <a:xfrm>
            <a:off x="7556500" y="3848100"/>
            <a:ext cx="9525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18" name="Rectangle 17"/>
          <p:cNvSpPr/>
          <p:nvPr/>
        </p:nvSpPr>
        <p:spPr>
          <a:xfrm>
            <a:off x="8509000" y="4965700"/>
            <a:ext cx="3111500" cy="8001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100">
                <a:solidFill>
                  <a:srgbClr val="172B43"/>
                </a:solidFill>
                <a:latin typeface="Arial" panose="020B0604020202020204" pitchFamily="34" charset="0"/>
                <a:cs typeface="Arial" panose="020B0604020202020204" pitchFamily="34" charset="0"/>
              </a:rPr>
              <a:t>PRE gate</a:t>
            </a:r>
            <a:endParaRPr lang="vi-VN" sz="2100">
              <a:solidFill>
                <a:srgbClr val="172B43"/>
              </a:solidFill>
              <a:latin typeface="Arial" panose="020B0604020202020204" pitchFamily="34" charset="0"/>
              <a:cs typeface="Arial" panose="020B0604020202020204" pitchFamily="34" charset="0"/>
            </a:endParaRPr>
          </a:p>
        </p:txBody>
      </p:sp>
      <p:sp>
        <p:nvSpPr>
          <p:cNvPr id="19" name="Rectangle 18"/>
          <p:cNvSpPr/>
          <p:nvPr/>
        </p:nvSpPr>
        <p:spPr>
          <a:xfrm>
            <a:off x="4572000" y="4965700"/>
            <a:ext cx="2984500" cy="800100"/>
          </a:xfrm>
          <a:prstGeom prst="rect">
            <a:avLst/>
          </a:prstGeom>
          <a:solidFill>
            <a:srgbClr val="FFF7E9"/>
          </a:solidFill>
          <a:ln w="17145">
            <a:solidFill>
              <a:srgbClr val="875A11"/>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100">
                <a:solidFill>
                  <a:srgbClr val="875A11"/>
                </a:solidFill>
                <a:latin typeface="Arial" panose="020B0604020202020204" pitchFamily="34" charset="0"/>
                <a:cs typeface="Arial" panose="020B0604020202020204" pitchFamily="34" charset="0"/>
              </a:rPr>
              <a:t>ABSTAIN</a:t>
            </a:r>
            <a:endParaRPr lang="vi-VN" sz="2100">
              <a:solidFill>
                <a:srgbClr val="875A11"/>
              </a:solidFill>
              <a:latin typeface="Arial" panose="020B0604020202020204" pitchFamily="34" charset="0"/>
              <a:cs typeface="Arial" panose="020B0604020202020204" pitchFamily="34" charset="0"/>
            </a:endParaRPr>
          </a:p>
        </p:txBody>
      </p:sp>
      <p:cxnSp>
        <p:nvCxnSpPr>
          <p:cNvPr id="20" name="Straight Connector 19"/>
          <p:cNvCxnSpPr/>
          <p:nvPr/>
        </p:nvCxnSpPr>
        <p:spPr>
          <a:xfrm>
            <a:off x="10058400" y="4330700"/>
            <a:ext cx="635" cy="635000"/>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cxnSp>
        <p:nvCxnSpPr>
          <p:cNvPr id="21" name="Straight Connector 20"/>
          <p:cNvCxnSpPr/>
          <p:nvPr/>
        </p:nvCxnSpPr>
        <p:spPr>
          <a:xfrm flipH="1">
            <a:off x="7556500" y="5372100"/>
            <a:ext cx="952500" cy="635"/>
          </a:xfrm>
          <a:prstGeom prst="line">
            <a:avLst/>
          </a:prstGeom>
          <a:ln w="20320">
            <a:solidFill>
              <a:srgbClr val="875A11"/>
            </a:solidFill>
            <a:tailEnd type="arrow"/>
          </a:ln>
        </p:spPr>
        <p:style>
          <a:lnRef idx="2">
            <a:schemeClr val="accent1"/>
          </a:lnRef>
          <a:fillRef idx="0">
            <a:srgbClr val="FFFFFF"/>
          </a:fillRef>
          <a:effectRef idx="0">
            <a:srgbClr val="FFFFFF"/>
          </a:effectRef>
          <a:fontRef idx="minor">
            <a:schemeClr val="tx1"/>
          </a:fontRef>
        </p:style>
      </p:cxnSp>
      <p:sp>
        <p:nvSpPr>
          <p:cNvPr id="22" name="Text Box 21"/>
          <p:cNvSpPr txBox="1"/>
          <p:nvPr/>
        </p:nvSpPr>
        <p:spPr>
          <a:xfrm>
            <a:off x="7581900" y="5486400"/>
            <a:ext cx="965200" cy="330200"/>
          </a:xfrm>
          <a:prstGeom prst="rect">
            <a:avLst/>
          </a:prstGeom>
          <a:noFill/>
        </p:spPr>
        <p:txBody>
          <a:bodyPr wrap="square" lIns="0" tIns="0" rIns="0" bIns="0" rtlCol="0" anchor="t">
            <a:noAutofit/>
          </a:bodyPr>
          <a:p>
            <a:pPr algn="ctr">
              <a:lnSpc>
                <a:spcPct val="104000"/>
              </a:lnSpc>
              <a:spcBef>
                <a:spcPts val="0"/>
              </a:spcBef>
              <a:spcAft>
                <a:spcPts val="0"/>
              </a:spcAft>
            </a:pPr>
            <a:r>
              <a:rPr lang="vi-VN" sz="1600">
                <a:solidFill>
                  <a:srgbClr val="875A11"/>
                </a:solidFill>
                <a:latin typeface="Arial" panose="020B0604020202020204" pitchFamily="34" charset="0"/>
                <a:cs typeface="Arial" panose="020B0604020202020204" pitchFamily="34" charset="0"/>
              </a:rPr>
              <a:t>chưa đủ</a:t>
            </a:r>
            <a:endParaRPr lang="vi-VN" sz="1600">
              <a:solidFill>
                <a:srgbClr val="875A11"/>
              </a:solidFill>
              <a:latin typeface="Arial" panose="020B0604020202020204" pitchFamily="34" charset="0"/>
              <a:cs typeface="Arial" panose="020B0604020202020204" pitchFamily="34" charset="0"/>
            </a:endParaRPr>
          </a:p>
        </p:txBody>
      </p:sp>
      <p:cxnSp>
        <p:nvCxnSpPr>
          <p:cNvPr id="23" name="Straight Connector 22"/>
          <p:cNvCxnSpPr/>
          <p:nvPr/>
        </p:nvCxnSpPr>
        <p:spPr>
          <a:xfrm>
            <a:off x="11620500" y="5372100"/>
            <a:ext cx="241300" cy="635"/>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24" name="Straight Connector 23"/>
          <p:cNvCxnSpPr/>
          <p:nvPr/>
        </p:nvCxnSpPr>
        <p:spPr>
          <a:xfrm flipV="1">
            <a:off x="11861800" y="2044700"/>
            <a:ext cx="635" cy="3327400"/>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25" name="Straight Connector 24"/>
          <p:cNvCxnSpPr/>
          <p:nvPr/>
        </p:nvCxnSpPr>
        <p:spPr>
          <a:xfrm flipH="1">
            <a:off x="11620500" y="2044700"/>
            <a:ext cx="2413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26" name="Text Box 25"/>
          <p:cNvSpPr txBox="1"/>
          <p:nvPr/>
        </p:nvSpPr>
        <p:spPr>
          <a:xfrm>
            <a:off x="571500" y="3149600"/>
            <a:ext cx="3365500" cy="406400"/>
          </a:xfrm>
          <a:prstGeom prst="rect">
            <a:avLst/>
          </a:prstGeom>
          <a:noFill/>
        </p:spPr>
        <p:txBody>
          <a:bodyPr wrap="square" lIns="0" tIns="0" rIns="0" bIns="0" rtlCol="0" anchor="t">
            <a:noAutofit/>
          </a:bodyPr>
          <a:p>
            <a:pPr algn="l">
              <a:lnSpc>
                <a:spcPct val="104000"/>
              </a:lnSpc>
              <a:spcBef>
                <a:spcPts val="0"/>
              </a:spcBef>
              <a:spcAft>
                <a:spcPts val="0"/>
              </a:spcAft>
            </a:pPr>
            <a:r>
              <a:rPr lang="vi-VN" sz="2300" b="1">
                <a:solidFill>
                  <a:srgbClr val="194B93"/>
                </a:solidFill>
                <a:latin typeface="Arial" panose="020B0604020202020204" pitchFamily="34" charset="0"/>
                <a:cs typeface="Arial" panose="020B0604020202020204" pitchFamily="34" charset="0"/>
              </a:rPr>
              <a:t>Điều kiện FULL</a:t>
            </a:r>
            <a:endParaRPr lang="vi-VN" sz="2300" b="1">
              <a:solidFill>
                <a:srgbClr val="194B93"/>
              </a:solidFill>
              <a:latin typeface="Arial" panose="020B0604020202020204" pitchFamily="34" charset="0"/>
              <a:cs typeface="Arial" panose="020B0604020202020204" pitchFamily="34" charset="0"/>
            </a:endParaRPr>
          </a:p>
        </p:txBody>
      </p:sp>
      <p:sp>
        <p:nvSpPr>
          <p:cNvPr id="27" name="Text Box 26"/>
          <p:cNvSpPr txBox="1"/>
          <p:nvPr/>
        </p:nvSpPr>
        <p:spPr>
          <a:xfrm>
            <a:off x="571500" y="3746500"/>
            <a:ext cx="3543300" cy="1384300"/>
          </a:xfrm>
          <a:prstGeom prst="rect">
            <a:avLst/>
          </a:prstGeom>
          <a:noFill/>
        </p:spPr>
        <p:txBody>
          <a:bodyPr wrap="square" lIns="0" tIns="0" rIns="0" bIns="0" rtlCol="0" anchor="t">
            <a:noAutofit/>
          </a:bodyPr>
          <a:p>
            <a:pPr algn="l">
              <a:lnSpc>
                <a:spcPct val="104000"/>
              </a:lnSpc>
              <a:spcBef>
                <a:spcPts val="0"/>
              </a:spcBef>
              <a:spcAft>
                <a:spcPts val="0"/>
              </a:spcAft>
            </a:pPr>
            <a:r>
              <a:rPr lang="vi-VN" sz="1900">
                <a:solidFill>
                  <a:srgbClr val="172B43"/>
                </a:solidFill>
                <a:latin typeface="Arial" panose="020B0604020202020204" pitchFamily="34" charset="0"/>
                <a:cs typeface="Arial" panose="020B0604020202020204" pitchFamily="34" charset="0"/>
              </a:rPr>
              <a:t>Tất cả obligations COVERED
Nguồn hợp lệ
0 discrepancy chưa giải quyết</a:t>
            </a:r>
            <a:endParaRPr lang="vi-VN" sz="1900">
              <a:solidFill>
                <a:srgbClr val="172B43"/>
              </a:solidFill>
              <a:latin typeface="Arial" panose="020B0604020202020204" pitchFamily="34" charset="0"/>
              <a:cs typeface="Arial" panose="020B0604020202020204" pitchFamily="34" charset="0"/>
            </a:endParaRPr>
          </a:p>
        </p:txBody>
      </p:sp>
      <p:sp>
        <p:nvSpPr>
          <p:cNvPr id="28" name="Text Box 27"/>
          <p:cNvSpPr txBox="1"/>
          <p:nvPr/>
        </p:nvSpPr>
        <p:spPr>
          <a:xfrm>
            <a:off x="571500" y="5867400"/>
            <a:ext cx="11049000" cy="381000"/>
          </a:xfrm>
          <a:prstGeom prst="rect">
            <a:avLst/>
          </a:prstGeom>
          <a:noFill/>
        </p:spPr>
        <p:txBody>
          <a:bodyPr wrap="square" lIns="0" tIns="0" rIns="0" bIns="0" rtlCol="0" anchor="t">
            <a:noAutofit/>
          </a:bodyPr>
          <a:p>
            <a:pPr algn="l">
              <a:lnSpc>
                <a:spcPct val="104000"/>
              </a:lnSpc>
              <a:spcBef>
                <a:spcPts val="0"/>
              </a:spcBef>
              <a:spcAft>
                <a:spcPts val="0"/>
              </a:spcAft>
            </a:pPr>
            <a:r>
              <a:rPr lang="vi-VN" sz="2100" b="1">
                <a:solidFill>
                  <a:srgbClr val="194B93"/>
                </a:solidFill>
                <a:latin typeface="Arial" panose="020B0604020202020204" pitchFamily="34" charset="0"/>
                <a:cs typeface="Arial" panose="020B0604020202020204" pitchFamily="34" charset="0"/>
              </a:rPr>
              <a:t>Kể cả nghĩa vụ planner gắn optional</a:t>
            </a:r>
            <a:endParaRPr lang="vi-VN" sz="2100" b="1">
              <a:solidFill>
                <a:srgbClr val="194B93"/>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POST, revision và PolicyGuard</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Nguồn: staged POST v4; workflow Steps 5–8; Kamath et al. (2020)</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10 / 15</a:t>
            </a:r>
            <a:endParaRPr lang="vi-VN" sz="1200">
              <a:solidFill>
                <a:srgbClr val="506074"/>
              </a:solidFill>
              <a:latin typeface="Arial" panose="020B0604020202020204" pitchFamily="34" charset="0"/>
              <a:cs typeface="Arial" panose="020B0604020202020204" pitchFamily="34" charset="0"/>
            </a:endParaRPr>
          </a:p>
        </p:txBody>
      </p:sp>
      <p:sp>
        <p:nvSpPr>
          <p:cNvPr id="7" name="Rectangle 6"/>
          <p:cNvSpPr/>
          <p:nvPr/>
        </p:nvSpPr>
        <p:spPr>
          <a:xfrm>
            <a:off x="571500" y="1574800"/>
            <a:ext cx="2286000" cy="9652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2000">
                <a:solidFill>
                  <a:srgbClr val="172B43"/>
                </a:solidFill>
                <a:latin typeface="Arial" panose="020B0604020202020204" pitchFamily="34" charset="0"/>
                <a:cs typeface="Arial" panose="020B0604020202020204" pitchFamily="34" charset="0"/>
              </a:rPr>
              <a:t>Claim
Decomposer</a:t>
            </a:r>
            <a:endParaRPr lang="vi-VN" sz="2000">
              <a:solidFill>
                <a:srgbClr val="172B43"/>
              </a:solidFill>
              <a:latin typeface="Arial" panose="020B0604020202020204" pitchFamily="34" charset="0"/>
              <a:cs typeface="Arial" panose="020B0604020202020204" pitchFamily="34" charset="0"/>
            </a:endParaRPr>
          </a:p>
        </p:txBody>
      </p:sp>
      <p:sp>
        <p:nvSpPr>
          <p:cNvPr id="8" name="Rectangle 7"/>
          <p:cNvSpPr/>
          <p:nvPr/>
        </p:nvSpPr>
        <p:spPr>
          <a:xfrm>
            <a:off x="3556000" y="1574800"/>
            <a:ext cx="3683000" cy="9652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1900">
                <a:solidFill>
                  <a:srgbClr val="172B43"/>
                </a:solidFill>
                <a:latin typeface="Arial" panose="020B0604020202020204" pitchFamily="34" charset="0"/>
                <a:cs typeface="Arial" panose="020B0604020202020204" pitchFamily="34" charset="0"/>
              </a:rPr>
              <a:t>POST v4
pair, diagnosis, remedies</a:t>
            </a:r>
            <a:endParaRPr lang="vi-VN" sz="1900">
              <a:solidFill>
                <a:srgbClr val="172B43"/>
              </a:solidFill>
              <a:latin typeface="Arial" panose="020B0604020202020204" pitchFamily="34" charset="0"/>
              <a:cs typeface="Arial" panose="020B0604020202020204" pitchFamily="34" charset="0"/>
            </a:endParaRPr>
          </a:p>
        </p:txBody>
      </p:sp>
      <p:cxnSp>
        <p:nvCxnSpPr>
          <p:cNvPr id="9" name="Straight Connector 8"/>
          <p:cNvCxnSpPr/>
          <p:nvPr/>
        </p:nvCxnSpPr>
        <p:spPr>
          <a:xfrm>
            <a:off x="2857500" y="2057400"/>
            <a:ext cx="698500" cy="635"/>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10" name="Rectangle 9"/>
          <p:cNvSpPr/>
          <p:nvPr/>
        </p:nvSpPr>
        <p:spPr>
          <a:xfrm>
            <a:off x="3556000" y="2908300"/>
            <a:ext cx="3683000" cy="14224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1850">
                <a:solidFill>
                  <a:srgbClr val="172B43"/>
                </a:solidFill>
                <a:latin typeface="Arial" panose="020B0604020202020204" pitchFamily="34" charset="0"/>
                <a:cs typeface="Arial" panose="020B0604020202020204" pitchFamily="34" charset="0"/>
              </a:rPr>
              <a:t>Canonical POST gate
Claims SUPPORTED
Obligations ADDRESSED
0 hard failure</a:t>
            </a:r>
            <a:endParaRPr lang="vi-VN" sz="1850">
              <a:solidFill>
                <a:srgbClr val="172B43"/>
              </a:solidFill>
              <a:latin typeface="Arial" panose="020B0604020202020204" pitchFamily="34" charset="0"/>
              <a:cs typeface="Arial" panose="020B0604020202020204" pitchFamily="34" charset="0"/>
            </a:endParaRPr>
          </a:p>
        </p:txBody>
      </p:sp>
      <p:cxnSp>
        <p:nvCxnSpPr>
          <p:cNvPr id="11" name="Straight Connector 10"/>
          <p:cNvCxnSpPr/>
          <p:nvPr/>
        </p:nvCxnSpPr>
        <p:spPr>
          <a:xfrm>
            <a:off x="5397500" y="2540000"/>
            <a:ext cx="635" cy="368300"/>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12" name="Rectangle 11"/>
          <p:cNvSpPr/>
          <p:nvPr/>
        </p:nvSpPr>
        <p:spPr>
          <a:xfrm>
            <a:off x="571500" y="4508500"/>
            <a:ext cx="6667500" cy="800100"/>
          </a:xfrm>
          <a:prstGeom prst="rect">
            <a:avLst/>
          </a:prstGeom>
          <a:solidFill>
            <a:srgbClr val="EAF0F7"/>
          </a:solidFill>
          <a:ln w="17145">
            <a:solidFill>
              <a:srgbClr val="194B9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sz="1900">
                <a:solidFill>
                  <a:srgbClr val="172B43"/>
                </a:solidFill>
                <a:latin typeface="Arial" panose="020B0604020202020204" pitchFamily="34" charset="0"/>
                <a:cs typeface="Arial" panose="020B0604020202020204" pitchFamily="34" charset="0"/>
              </a:rPr>
              <a:t>Grounded revision ≤ 1
Chỉ memory hiện có, hủy claims/POST cũ</a:t>
            </a:r>
            <a:endParaRPr lang="vi-VN" sz="1900">
              <a:solidFill>
                <a:srgbClr val="172B43"/>
              </a:solidFill>
              <a:latin typeface="Arial" panose="020B0604020202020204" pitchFamily="34" charset="0"/>
              <a:cs typeface="Arial" panose="020B0604020202020204" pitchFamily="34" charset="0"/>
            </a:endParaRPr>
          </a:p>
        </p:txBody>
      </p:sp>
      <p:cxnSp>
        <p:nvCxnSpPr>
          <p:cNvPr id="13" name="Straight Connector 12"/>
          <p:cNvCxnSpPr/>
          <p:nvPr/>
        </p:nvCxnSpPr>
        <p:spPr>
          <a:xfrm flipH="1">
            <a:off x="3048000" y="3467100"/>
            <a:ext cx="508000" cy="635"/>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14" name="Straight Connector 13"/>
          <p:cNvCxnSpPr/>
          <p:nvPr/>
        </p:nvCxnSpPr>
        <p:spPr>
          <a:xfrm>
            <a:off x="3048000" y="3467100"/>
            <a:ext cx="635" cy="1041400"/>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15" name="Text Box 14"/>
          <p:cNvSpPr txBox="1"/>
          <p:nvPr/>
        </p:nvSpPr>
        <p:spPr>
          <a:xfrm>
            <a:off x="571500" y="3606800"/>
            <a:ext cx="2413000" cy="698500"/>
          </a:xfrm>
          <a:prstGeom prst="rect">
            <a:avLst/>
          </a:prstGeom>
          <a:noFill/>
        </p:spPr>
        <p:txBody>
          <a:bodyPr wrap="square" lIns="0" tIns="0" rIns="0" bIns="0" rtlCol="0" anchor="t">
            <a:noAutofit/>
          </a:bodyPr>
          <a:p>
            <a:pPr algn="l">
              <a:lnSpc>
                <a:spcPct val="104000"/>
              </a:lnSpc>
              <a:spcBef>
                <a:spcPts val="0"/>
              </a:spcBef>
              <a:spcAft>
                <a:spcPts val="0"/>
              </a:spcAft>
            </a:pPr>
            <a:r>
              <a:rPr lang="vi-VN">
                <a:solidFill>
                  <a:srgbClr val="506074"/>
                </a:solidFill>
                <a:latin typeface="Arial" panose="020B0604020202020204" pitchFamily="34" charset="0"/>
                <a:cs typeface="Arial" panose="020B0604020202020204" pitchFamily="34" charset="0"/>
              </a:rPr>
              <a:t>NEEDS_REVISION
và có thể sửa</a:t>
            </a:r>
            <a:endParaRPr lang="vi-VN">
              <a:solidFill>
                <a:srgbClr val="506074"/>
              </a:solidFill>
              <a:latin typeface="Arial" panose="020B0604020202020204" pitchFamily="34" charset="0"/>
              <a:cs typeface="Arial" panose="020B0604020202020204" pitchFamily="34" charset="0"/>
            </a:endParaRPr>
          </a:p>
        </p:txBody>
      </p:sp>
      <p:cxnSp>
        <p:nvCxnSpPr>
          <p:cNvPr id="16" name="Straight Connector 15"/>
          <p:cNvCxnSpPr/>
          <p:nvPr/>
        </p:nvCxnSpPr>
        <p:spPr>
          <a:xfrm flipH="1">
            <a:off x="317500" y="4902200"/>
            <a:ext cx="254000" cy="635"/>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17" name="Straight Connector 16"/>
          <p:cNvCxnSpPr/>
          <p:nvPr/>
        </p:nvCxnSpPr>
        <p:spPr>
          <a:xfrm flipV="1">
            <a:off x="317500" y="1358900"/>
            <a:ext cx="635" cy="3543300"/>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18" name="Straight Connector 17"/>
          <p:cNvCxnSpPr/>
          <p:nvPr/>
        </p:nvCxnSpPr>
        <p:spPr>
          <a:xfrm>
            <a:off x="317500" y="1358900"/>
            <a:ext cx="1397000" cy="635"/>
          </a:xfrm>
          <a:prstGeom prst="line">
            <a:avLst/>
          </a:prstGeom>
          <a:ln w="20320">
            <a:solidFill>
              <a:srgbClr val="194B93"/>
            </a:solidFill>
          </a:ln>
        </p:spPr>
        <p:style>
          <a:lnRef idx="2">
            <a:schemeClr val="accent1"/>
          </a:lnRef>
          <a:fillRef idx="0">
            <a:srgbClr val="FFFFFF"/>
          </a:fillRef>
          <a:effectRef idx="0">
            <a:srgbClr val="FFFFFF"/>
          </a:effectRef>
          <a:fontRef idx="minor">
            <a:schemeClr val="tx1"/>
          </a:fontRef>
        </p:style>
      </p:cxnSp>
      <p:cxnSp>
        <p:nvCxnSpPr>
          <p:cNvPr id="19" name="Straight Connector 18"/>
          <p:cNvCxnSpPr/>
          <p:nvPr/>
        </p:nvCxnSpPr>
        <p:spPr>
          <a:xfrm>
            <a:off x="1714500" y="1358900"/>
            <a:ext cx="635" cy="215900"/>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20" name="Text Box 19"/>
          <p:cNvSpPr txBox="1"/>
          <p:nvPr/>
        </p:nvSpPr>
        <p:spPr>
          <a:xfrm>
            <a:off x="7937500" y="1422400"/>
            <a:ext cx="3683000" cy="457200"/>
          </a:xfrm>
          <a:prstGeom prst="rect">
            <a:avLst/>
          </a:prstGeom>
          <a:noFill/>
        </p:spPr>
        <p:txBody>
          <a:bodyPr wrap="square" lIns="0" tIns="0" rIns="0" bIns="0" rtlCol="0" anchor="t">
            <a:noAutofit/>
          </a:bodyPr>
          <a:p>
            <a:pPr algn="l">
              <a:lnSpc>
                <a:spcPct val="104000"/>
              </a:lnSpc>
              <a:spcBef>
                <a:spcPts val="0"/>
              </a:spcBef>
              <a:spcAft>
                <a:spcPts val="0"/>
              </a:spcAft>
            </a:pPr>
            <a:r>
              <a:rPr lang="vi-VN" sz="2300" b="1">
                <a:solidFill>
                  <a:srgbClr val="194B93"/>
                </a:solidFill>
                <a:latin typeface="Arial" panose="020B0604020202020204" pitchFamily="34" charset="0"/>
                <a:cs typeface="Arial" panose="020B0604020202020204" pitchFamily="34" charset="0"/>
              </a:rPr>
              <a:t>Control plane xác định</a:t>
            </a:r>
            <a:endParaRPr lang="vi-VN" sz="2300" b="1">
              <a:solidFill>
                <a:srgbClr val="194B93"/>
              </a:solidFill>
              <a:latin typeface="Arial" panose="020B0604020202020204" pitchFamily="34" charset="0"/>
              <a:cs typeface="Arial" panose="020B0604020202020204" pitchFamily="34" charset="0"/>
            </a:endParaRPr>
          </a:p>
        </p:txBody>
      </p:sp>
      <p:sp>
        <p:nvSpPr>
          <p:cNvPr id="21" name="Text Box 20"/>
          <p:cNvSpPr txBox="1"/>
          <p:nvPr/>
        </p:nvSpPr>
        <p:spPr>
          <a:xfrm>
            <a:off x="7937500" y="2044700"/>
            <a:ext cx="3683000" cy="444500"/>
          </a:xfrm>
          <a:prstGeom prst="rect">
            <a:avLst/>
          </a:prstGeom>
          <a:noFill/>
        </p:spPr>
        <p:txBody>
          <a:bodyPr wrap="square" lIns="0" tIns="0" rIns="0" bIns="0" rtlCol="0" anchor="t">
            <a:noAutofit/>
          </a:bodyPr>
          <a:p>
            <a:pPr algn="ctr">
              <a:lnSpc>
                <a:spcPct val="104000"/>
              </a:lnSpc>
              <a:spcBef>
                <a:spcPts val="0"/>
              </a:spcBef>
              <a:spcAft>
                <a:spcPts val="0"/>
              </a:spcAft>
            </a:pPr>
            <a:r>
              <a:rPr lang="vi-VN" sz="2100" b="1">
                <a:solidFill>
                  <a:srgbClr val="194B93"/>
                </a:solidFill>
                <a:latin typeface="Arial" panose="020B0604020202020204" pitchFamily="34" charset="0"/>
                <a:cs typeface="Arial" panose="020B0604020202020204" pitchFamily="34" charset="0"/>
              </a:rPr>
              <a:t>ValidActionSet</a:t>
            </a:r>
            <a:endParaRPr lang="vi-VN" sz="2100" b="1">
              <a:solidFill>
                <a:srgbClr val="194B93"/>
              </a:solidFill>
              <a:latin typeface="Arial" panose="020B0604020202020204" pitchFamily="34" charset="0"/>
              <a:cs typeface="Arial" panose="020B0604020202020204" pitchFamily="34" charset="0"/>
            </a:endParaRPr>
          </a:p>
        </p:txBody>
      </p:sp>
      <p:cxnSp>
        <p:nvCxnSpPr>
          <p:cNvPr id="22" name="Straight Connector 21"/>
          <p:cNvCxnSpPr/>
          <p:nvPr/>
        </p:nvCxnSpPr>
        <p:spPr>
          <a:xfrm>
            <a:off x="9779000" y="2489200"/>
            <a:ext cx="635" cy="228600"/>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23" name="Text Box 22"/>
          <p:cNvSpPr txBox="1"/>
          <p:nvPr/>
        </p:nvSpPr>
        <p:spPr>
          <a:xfrm>
            <a:off x="7937500" y="2743200"/>
            <a:ext cx="3683000" cy="444500"/>
          </a:xfrm>
          <a:prstGeom prst="rect">
            <a:avLst/>
          </a:prstGeom>
          <a:noFill/>
        </p:spPr>
        <p:txBody>
          <a:bodyPr wrap="square" lIns="0" tIns="0" rIns="0" bIns="0" rtlCol="0" anchor="t">
            <a:noAutofit/>
          </a:bodyPr>
          <a:p>
            <a:pPr algn="ctr">
              <a:lnSpc>
                <a:spcPct val="104000"/>
              </a:lnSpc>
              <a:spcBef>
                <a:spcPts val="0"/>
              </a:spcBef>
              <a:spcAft>
                <a:spcPts val="0"/>
              </a:spcAft>
            </a:pPr>
            <a:r>
              <a:rPr lang="vi-VN" sz="2100" b="1">
                <a:solidFill>
                  <a:srgbClr val="194B93"/>
                </a:solidFill>
                <a:latin typeface="Arial" panose="020B0604020202020204" pitchFamily="34" charset="0"/>
                <a:cs typeface="Arial" panose="020B0604020202020204" pitchFamily="34" charset="0"/>
              </a:rPr>
              <a:t>DeterministicRulesPolicy</a:t>
            </a:r>
            <a:endParaRPr lang="vi-VN" sz="2100" b="1">
              <a:solidFill>
                <a:srgbClr val="194B93"/>
              </a:solidFill>
              <a:latin typeface="Arial" panose="020B0604020202020204" pitchFamily="34" charset="0"/>
              <a:cs typeface="Arial" panose="020B0604020202020204" pitchFamily="34" charset="0"/>
            </a:endParaRPr>
          </a:p>
        </p:txBody>
      </p:sp>
      <p:cxnSp>
        <p:nvCxnSpPr>
          <p:cNvPr id="24" name="Straight Connector 23"/>
          <p:cNvCxnSpPr/>
          <p:nvPr/>
        </p:nvCxnSpPr>
        <p:spPr>
          <a:xfrm>
            <a:off x="9779000" y="3187700"/>
            <a:ext cx="635" cy="228600"/>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25" name="Text Box 24"/>
          <p:cNvSpPr txBox="1"/>
          <p:nvPr/>
        </p:nvSpPr>
        <p:spPr>
          <a:xfrm>
            <a:off x="7937500" y="3441700"/>
            <a:ext cx="3683000" cy="444500"/>
          </a:xfrm>
          <a:prstGeom prst="rect">
            <a:avLst/>
          </a:prstGeom>
          <a:noFill/>
        </p:spPr>
        <p:txBody>
          <a:bodyPr wrap="square" lIns="0" tIns="0" rIns="0" bIns="0" rtlCol="0" anchor="t">
            <a:noAutofit/>
          </a:bodyPr>
          <a:p>
            <a:pPr algn="ctr">
              <a:lnSpc>
                <a:spcPct val="104000"/>
              </a:lnSpc>
              <a:spcBef>
                <a:spcPts val="0"/>
              </a:spcBef>
              <a:spcAft>
                <a:spcPts val="0"/>
              </a:spcAft>
            </a:pPr>
            <a:r>
              <a:rPr lang="vi-VN" sz="2100" b="1">
                <a:solidFill>
                  <a:srgbClr val="194B93"/>
                </a:solidFill>
                <a:latin typeface="Arial" panose="020B0604020202020204" pitchFamily="34" charset="0"/>
                <a:cs typeface="Arial" panose="020B0604020202020204" pitchFamily="34" charset="0"/>
              </a:rPr>
              <a:t>PolicyGuard</a:t>
            </a:r>
            <a:endParaRPr lang="vi-VN" sz="2100" b="1">
              <a:solidFill>
                <a:srgbClr val="194B93"/>
              </a:solidFill>
              <a:latin typeface="Arial" panose="020B0604020202020204" pitchFamily="34" charset="0"/>
              <a:cs typeface="Arial" panose="020B0604020202020204" pitchFamily="34" charset="0"/>
            </a:endParaRPr>
          </a:p>
        </p:txBody>
      </p:sp>
      <p:cxnSp>
        <p:nvCxnSpPr>
          <p:cNvPr id="26" name="Straight Connector 25"/>
          <p:cNvCxnSpPr/>
          <p:nvPr/>
        </p:nvCxnSpPr>
        <p:spPr>
          <a:xfrm>
            <a:off x="9779000" y="3886200"/>
            <a:ext cx="635" cy="228600"/>
          </a:xfrm>
          <a:prstGeom prst="line">
            <a:avLst/>
          </a:prstGeom>
          <a:ln w="20320">
            <a:solidFill>
              <a:srgbClr val="194B93"/>
            </a:solidFill>
            <a:tailEnd type="arrow"/>
          </a:ln>
        </p:spPr>
        <p:style>
          <a:lnRef idx="2">
            <a:schemeClr val="accent1"/>
          </a:lnRef>
          <a:fillRef idx="0">
            <a:srgbClr val="FFFFFF"/>
          </a:fillRef>
          <a:effectRef idx="0">
            <a:srgbClr val="FFFFFF"/>
          </a:effectRef>
          <a:fontRef idx="minor">
            <a:schemeClr val="tx1"/>
          </a:fontRef>
        </p:style>
      </p:cxnSp>
      <p:sp>
        <p:nvSpPr>
          <p:cNvPr id="27" name="Text Box 26"/>
          <p:cNvSpPr txBox="1"/>
          <p:nvPr/>
        </p:nvSpPr>
        <p:spPr>
          <a:xfrm>
            <a:off x="7937500" y="4140200"/>
            <a:ext cx="3683000" cy="444500"/>
          </a:xfrm>
          <a:prstGeom prst="rect">
            <a:avLst/>
          </a:prstGeom>
          <a:noFill/>
        </p:spPr>
        <p:txBody>
          <a:bodyPr wrap="square" lIns="0" tIns="0" rIns="0" bIns="0" rtlCol="0" anchor="t">
            <a:noAutofit/>
          </a:bodyPr>
          <a:p>
            <a:pPr algn="ctr">
              <a:lnSpc>
                <a:spcPct val="104000"/>
              </a:lnSpc>
              <a:spcBef>
                <a:spcPts val="0"/>
              </a:spcBef>
              <a:spcAft>
                <a:spcPts val="0"/>
              </a:spcAft>
            </a:pPr>
            <a:r>
              <a:rPr lang="vi-VN" sz="2100" b="1">
                <a:solidFill>
                  <a:srgbClr val="194B93"/>
                </a:solidFill>
                <a:latin typeface="Arial" panose="020B0604020202020204" pitchFamily="34" charset="0"/>
                <a:cs typeface="Arial" panose="020B0604020202020204" pitchFamily="34" charset="0"/>
              </a:rPr>
              <a:t>ActionExecutor</a:t>
            </a:r>
            <a:endParaRPr lang="vi-VN" sz="2100" b="1">
              <a:solidFill>
                <a:srgbClr val="194B93"/>
              </a:solidFill>
              <a:latin typeface="Arial" panose="020B0604020202020204" pitchFamily="34" charset="0"/>
              <a:cs typeface="Arial" panose="020B0604020202020204" pitchFamily="34" charset="0"/>
            </a:endParaRPr>
          </a:p>
        </p:txBody>
      </p:sp>
      <p:sp>
        <p:nvSpPr>
          <p:cNvPr id="28" name="Text Box 27"/>
          <p:cNvSpPr txBox="1"/>
          <p:nvPr/>
        </p:nvSpPr>
        <p:spPr>
          <a:xfrm>
            <a:off x="7937500" y="4737100"/>
            <a:ext cx="3683000" cy="622300"/>
          </a:xfrm>
          <a:prstGeom prst="rect">
            <a:avLst/>
          </a:prstGeom>
          <a:noFill/>
        </p:spPr>
        <p:txBody>
          <a:bodyPr wrap="square" lIns="0" tIns="0" rIns="0" bIns="0" rtlCol="0" anchor="t">
            <a:noAutofit/>
          </a:bodyPr>
          <a:p>
            <a:pPr algn="ctr">
              <a:lnSpc>
                <a:spcPct val="104000"/>
              </a:lnSpc>
              <a:spcBef>
                <a:spcPts val="0"/>
              </a:spcBef>
              <a:spcAft>
                <a:spcPts val="0"/>
              </a:spcAft>
            </a:pPr>
            <a:r>
              <a:rPr lang="vi-VN" b="1">
                <a:solidFill>
                  <a:srgbClr val="D5222A"/>
                </a:solidFill>
                <a:latin typeface="Arial" panose="020B0604020202020204" pitchFamily="34" charset="0"/>
                <a:cs typeface="Arial" panose="020B0604020202020204" pitchFamily="34" charset="0"/>
              </a:rPr>
              <a:t>Mỗi action có hiệu lực
đều cần guard cho phép</a:t>
            </a:r>
            <a:endParaRPr lang="vi-VN" b="1">
              <a:solidFill>
                <a:srgbClr val="D5222A"/>
              </a:solidFill>
              <a:latin typeface="Arial" panose="020B0604020202020204" pitchFamily="34" charset="0"/>
              <a:cs typeface="Arial" panose="020B0604020202020204" pitchFamily="34" charset="0"/>
            </a:endParaRPr>
          </a:p>
        </p:txBody>
      </p:sp>
      <p:sp>
        <p:nvSpPr>
          <p:cNvPr id="29" name="Rectangle 28"/>
          <p:cNvSpPr/>
          <p:nvPr/>
        </p:nvSpPr>
        <p:spPr>
          <a:xfrm>
            <a:off x="571500" y="5499100"/>
            <a:ext cx="3556000" cy="812800"/>
          </a:xfrm>
          <a:prstGeom prst="rect">
            <a:avLst/>
          </a:prstGeom>
          <a:solidFill>
            <a:srgbClr val="EEF6F2"/>
          </a:solidFill>
          <a:ln w="17145">
            <a:solidFill>
              <a:srgbClr val="286553"/>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a:solidFill>
                  <a:srgbClr val="286553"/>
                </a:solidFill>
                <a:latin typeface="Arial" panose="020B0604020202020204" pitchFamily="34" charset="0"/>
                <a:cs typeface="Arial" panose="020B0604020202020204" pitchFamily="34" charset="0"/>
              </a:rPr>
              <a:t>ACCEPT
COMPLETED_ANSWER</a:t>
            </a:r>
            <a:endParaRPr lang="vi-VN">
              <a:solidFill>
                <a:srgbClr val="286553"/>
              </a:solidFill>
              <a:latin typeface="Arial" panose="020B0604020202020204" pitchFamily="34" charset="0"/>
              <a:cs typeface="Arial" panose="020B0604020202020204" pitchFamily="34" charset="0"/>
            </a:endParaRPr>
          </a:p>
        </p:txBody>
      </p:sp>
      <p:sp>
        <p:nvSpPr>
          <p:cNvPr id="30" name="Rectangle 29"/>
          <p:cNvSpPr/>
          <p:nvPr/>
        </p:nvSpPr>
        <p:spPr>
          <a:xfrm>
            <a:off x="4318000" y="5499100"/>
            <a:ext cx="3556000" cy="812800"/>
          </a:xfrm>
          <a:prstGeom prst="rect">
            <a:avLst/>
          </a:prstGeom>
          <a:solidFill>
            <a:srgbClr val="FFF7E9"/>
          </a:solidFill>
          <a:ln w="17145">
            <a:solidFill>
              <a:srgbClr val="875A11"/>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a:solidFill>
                  <a:srgbClr val="875A11"/>
                </a:solidFill>
                <a:latin typeface="Arial" panose="020B0604020202020204" pitchFamily="34" charset="0"/>
                <a:cs typeface="Arial" panose="020B0604020202020204" pitchFamily="34" charset="0"/>
              </a:rPr>
              <a:t>ABSTAIN
COMPLETED_ABSTAIN</a:t>
            </a:r>
            <a:endParaRPr lang="vi-VN">
              <a:solidFill>
                <a:srgbClr val="875A11"/>
              </a:solidFill>
              <a:latin typeface="Arial" panose="020B0604020202020204" pitchFamily="34" charset="0"/>
              <a:cs typeface="Arial" panose="020B0604020202020204" pitchFamily="34" charset="0"/>
            </a:endParaRPr>
          </a:p>
        </p:txBody>
      </p:sp>
      <p:sp>
        <p:nvSpPr>
          <p:cNvPr id="31" name="Rectangle 30"/>
          <p:cNvSpPr/>
          <p:nvPr/>
        </p:nvSpPr>
        <p:spPr>
          <a:xfrm>
            <a:off x="8064500" y="5499100"/>
            <a:ext cx="3556000" cy="812800"/>
          </a:xfrm>
          <a:prstGeom prst="rect">
            <a:avLst/>
          </a:prstGeom>
          <a:solidFill>
            <a:srgbClr val="FBEFF0"/>
          </a:solidFill>
          <a:ln w="17145">
            <a:solidFill>
              <a:srgbClr val="D5222A"/>
            </a:solidFill>
          </a:ln>
        </p:spPr>
        <p:style>
          <a:lnRef idx="2">
            <a:schemeClr val="accent1">
              <a:lumMod val="75000"/>
            </a:schemeClr>
          </a:lnRef>
          <a:fillRef idx="1">
            <a:schemeClr val="accent1"/>
          </a:fillRef>
          <a:effectRef idx="0">
            <a:srgbClr val="FFFFFF"/>
          </a:effectRef>
          <a:fontRef idx="minor">
            <a:schemeClr val="lt1"/>
          </a:fontRef>
        </p:style>
        <p:txBody>
          <a:bodyPr wrap="square" lIns="114300" tIns="63500" rIns="114300" bIns="63500" rtlCol="0" anchor="ctr">
            <a:noAutofit/>
          </a:bodyPr>
          <a:p>
            <a:pPr algn="ctr">
              <a:lnSpc>
                <a:spcPct val="102000"/>
              </a:lnSpc>
              <a:spcBef>
                <a:spcPts val="0"/>
              </a:spcBef>
              <a:spcAft>
                <a:spcPts val="0"/>
              </a:spcAft>
            </a:pPr>
            <a:r>
              <a:rPr lang="vi-VN">
                <a:solidFill>
                  <a:srgbClr val="D5222A"/>
                </a:solidFill>
                <a:latin typeface="Arial" panose="020B0604020202020204" pitchFamily="34" charset="0"/>
                <a:cs typeface="Arial" panose="020B0604020202020204" pitchFamily="34" charset="0"/>
              </a:rPr>
              <a:t>FAILED_*
Lỗi kỹ thuật</a:t>
            </a:r>
            <a:endParaRPr lang="vi-VN">
              <a:solidFill>
                <a:srgbClr val="D5222A"/>
              </a:solidFill>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Thiết kế ba nhánh E1-v2</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Nguồn: protocol e1-v2.refined-full-primary.v2; phỏng theo Hình 05</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11 / 15</a:t>
            </a:r>
            <a:endParaRPr lang="vi-VN" sz="1200">
              <a:solidFill>
                <a:srgbClr val="506074"/>
              </a:solidFill>
              <a:latin typeface="Arial" panose="020B0604020202020204" pitchFamily="34" charset="0"/>
              <a:cs typeface="Arial" panose="020B0604020202020204" pitchFamily="34" charset="0"/>
            </a:endParaRPr>
          </a:p>
        </p:txBody>
      </p:sp>
      <p:sp>
        <p:nvSpPr>
          <p:cNvPr id="7" name="Text Box 6"/>
          <p:cNvSpPr txBox="1"/>
          <p:nvPr/>
        </p:nvSpPr>
        <p:spPr>
          <a:xfrm>
            <a:off x="571500" y="1333500"/>
            <a:ext cx="11049000" cy="647700"/>
          </a:xfrm>
          <a:prstGeom prst="rect">
            <a:avLst/>
          </a:prstGeom>
          <a:noFill/>
        </p:spPr>
        <p:txBody>
          <a:bodyPr wrap="square" lIns="0" tIns="0" rIns="0" bIns="0" rtlCol="0" anchor="t">
            <a:noAutofit/>
          </a:bodyPr>
          <a:p>
            <a:pPr algn="l">
              <a:lnSpc>
                <a:spcPct val="104000"/>
              </a:lnSpc>
              <a:spcBef>
                <a:spcPts val="0"/>
              </a:spcBef>
              <a:spcAft>
                <a:spcPts val="0"/>
              </a:spcAft>
            </a:pPr>
            <a:r>
              <a:rPr lang="vi-VN" sz="1900" b="1">
                <a:solidFill>
                  <a:srgbClr val="194B93"/>
                </a:solidFill>
                <a:latin typeface="Arial" panose="020B0604020202020204" pitchFamily="34" charset="0"/>
                <a:cs typeface="Arial" panose="020B0604020202020204" pitchFamily="34" charset="0"/>
              </a:rPr>
              <a:t>16 câu hỏi × 3 replicates = 48 preparations
48 preparations × 3 arms = 144 cells</a:t>
            </a:r>
            <a:endParaRPr lang="vi-VN" sz="1900" b="1">
              <a:solidFill>
                <a:srgbClr val="194B93"/>
              </a:solidFill>
              <a:latin typeface="Arial" panose="020B0604020202020204" pitchFamily="34" charset="0"/>
              <a:cs typeface="Arial" panose="020B0604020202020204" pitchFamily="34" charset="0"/>
            </a:endParaRPr>
          </a:p>
        </p:txBody>
      </p:sp>
      <p:graphicFrame>
        <p:nvGraphicFramePr>
          <p:cNvPr id="8" name="Table 7"/>
          <p:cNvGraphicFramePr/>
          <p:nvPr/>
        </p:nvGraphicFramePr>
        <p:xfrm>
          <a:off x="571500" y="2159000"/>
          <a:ext cx="11049000" cy="3606800"/>
        </p:xfrm>
        <a:graphic>
          <a:graphicData uri="http://schemas.openxmlformats.org/drawingml/2006/table">
            <a:tbl>
              <a:tblPr firstRow="1" bandRow="1">
                <a:tableStyleId>{5C22544A-7EE6-4342-B048-85BDC9FD1C3A}</a:tableStyleId>
              </a:tblPr>
              <a:tblGrid>
                <a:gridCol w="1079500"/>
                <a:gridCol w="5588000"/>
                <a:gridCol w="4381500"/>
              </a:tblGrid>
              <a:tr h="508000">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Nhánh</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Đầu vào tại PRE</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PRE và corrective retrieval</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r>
              <a:tr h="9652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A0</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Plan + E₀
Ẩn câu hỏi gốc tại PRE</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FULL theo từng obligation
Query theo obligation</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r>
              <a:tr h="9652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A1</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Câu hỏi + cùng Plan + cùng E₀</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Cùng instruction/schema/gating A0
Query theo obligation</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r>
              <a:tr h="11684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G</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Câu hỏi + E₀ + public SourcePolicy
+ prior gaps; không có Plan tại PRE</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Generic sufficiency boolean
Query theo generic gaps</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r>
            </a:tbl>
          </a:graphicData>
        </a:graphic>
      </p:graphicFrame>
      <p:sp>
        <p:nvSpPr>
          <p:cNvPr id="9" name="Text Box 8"/>
          <p:cNvSpPr txBox="1"/>
          <p:nvPr/>
        </p:nvSpPr>
        <p:spPr>
          <a:xfrm>
            <a:off x="571500" y="5892800"/>
            <a:ext cx="11049000" cy="482600"/>
          </a:xfrm>
          <a:prstGeom prst="rect">
            <a:avLst/>
          </a:prstGeom>
          <a:noFill/>
        </p:spPr>
        <p:txBody>
          <a:bodyPr wrap="square" lIns="0" tIns="0" rIns="0" bIns="0" rtlCol="0" anchor="t">
            <a:noAutofit/>
          </a:bodyPr>
          <a:p>
            <a:pPr algn="l">
              <a:lnSpc>
                <a:spcPct val="104000"/>
              </a:lnSpc>
              <a:spcBef>
                <a:spcPts val="0"/>
              </a:spcBef>
              <a:spcAft>
                <a:spcPts val="0"/>
              </a:spcAft>
            </a:pPr>
            <a:r>
              <a:rPr lang="vi-VN" b="1">
                <a:solidFill>
                  <a:srgbClr val="194B93"/>
                </a:solidFill>
                <a:latin typeface="Arial" panose="020B0604020202020204" pitchFamily="34" charset="0"/>
                <a:cs typeface="Arial" panose="020B0604020202020204" pitchFamily="34" charset="0"/>
              </a:rPr>
              <a:t>Cả 3 nhánh nhận cùng Plan ở downstream: Generator, POST v4, revision và guard</a:t>
            </a:r>
            <a:endParaRPr lang="vi-VN" b="1">
              <a:solidFill>
                <a:srgbClr val="194B93"/>
              </a:solidFill>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Triển khai và khả năng tái lập</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Nguồn: architecture; experimental design; content contract §5–6</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12 / 15</a:t>
            </a:r>
            <a:endParaRPr lang="vi-VN" sz="1200">
              <a:solidFill>
                <a:srgbClr val="506074"/>
              </a:solidFill>
              <a:latin typeface="Arial" panose="020B0604020202020204" pitchFamily="34" charset="0"/>
              <a:cs typeface="Arial" panose="020B0604020202020204" pitchFamily="34" charset="0"/>
            </a:endParaRPr>
          </a:p>
        </p:txBody>
      </p:sp>
      <p:sp>
        <p:nvSpPr>
          <p:cNvPr id="7" name="Text Box 6"/>
          <p:cNvSpPr txBox="1"/>
          <p:nvPr/>
        </p:nvSpPr>
        <p:spPr>
          <a:xfrm>
            <a:off x="571500" y="1498600"/>
            <a:ext cx="5334000" cy="431800"/>
          </a:xfrm>
          <a:prstGeom prst="rect">
            <a:avLst/>
          </a:prstGeom>
          <a:noFill/>
        </p:spPr>
        <p:txBody>
          <a:bodyPr wrap="square" lIns="0" tIns="0" rIns="0" bIns="0" rtlCol="0" anchor="t">
            <a:noAutofit/>
          </a:bodyPr>
          <a:p>
            <a:pPr algn="l">
              <a:lnSpc>
                <a:spcPct val="104000"/>
              </a:lnSpc>
              <a:spcBef>
                <a:spcPts val="0"/>
              </a:spcBef>
              <a:spcAft>
                <a:spcPts val="0"/>
              </a:spcAft>
            </a:pPr>
            <a:r>
              <a:rPr lang="vi-VN" sz="2500" b="1">
                <a:solidFill>
                  <a:srgbClr val="194B93"/>
                </a:solidFill>
                <a:latin typeface="Arial" panose="020B0604020202020204" pitchFamily="34" charset="0"/>
                <a:cs typeface="Arial" panose="020B0604020202020204" pitchFamily="34" charset="0"/>
              </a:rPr>
              <a:t>Retrieval cục bộ đã pin</a:t>
            </a:r>
            <a:endParaRPr lang="vi-VN" sz="2500" b="1">
              <a:solidFill>
                <a:srgbClr val="194B93"/>
              </a:solidFill>
              <a:latin typeface="Arial" panose="020B0604020202020204" pitchFamily="34" charset="0"/>
              <a:cs typeface="Arial" panose="020B0604020202020204" pitchFamily="34" charset="0"/>
            </a:endParaRPr>
          </a:p>
        </p:txBody>
      </p:sp>
      <p:graphicFrame>
        <p:nvGraphicFramePr>
          <p:cNvPr id="8" name="Table 7"/>
          <p:cNvGraphicFramePr/>
          <p:nvPr/>
        </p:nvGraphicFramePr>
        <p:xfrm>
          <a:off x="571500" y="2146300"/>
          <a:ext cx="5715000" cy="3149600"/>
        </p:xfrm>
        <a:graphic>
          <a:graphicData uri="http://schemas.openxmlformats.org/drawingml/2006/table">
            <a:tbl>
              <a:tblPr firstRow="1" bandRow="1">
                <a:tableStyleId>{5C22544A-7EE6-4342-B048-85BDC9FD1C3A}</a:tableStyleId>
              </a:tblPr>
              <a:tblGrid>
                <a:gridCol w="2032000"/>
                <a:gridCol w="3683000"/>
              </a:tblGrid>
              <a:tr h="482600">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Thuộc tính</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Cấu hình</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r>
              <a:tr h="5334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Encoders</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MedCPT query / article</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r>
              <a:tr h="5334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FAISS</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IndexFlatIP</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r>
              <a:tr h="5334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Kích thước</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276 vectors × 768 chiều</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r>
              <a:tr h="5334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Runtime</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float32 CPU, offline</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r>
              <a:tr h="5334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Truy xuất</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top-k = 8, không reranker</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r>
            </a:tbl>
          </a:graphicData>
        </a:graphic>
      </p:graphicFrame>
      <p:sp>
        <p:nvSpPr>
          <p:cNvPr id="9" name="Text Box 8"/>
          <p:cNvSpPr txBox="1"/>
          <p:nvPr/>
        </p:nvSpPr>
        <p:spPr>
          <a:xfrm>
            <a:off x="6921500" y="1498600"/>
            <a:ext cx="4699000" cy="431800"/>
          </a:xfrm>
          <a:prstGeom prst="rect">
            <a:avLst/>
          </a:prstGeom>
          <a:noFill/>
        </p:spPr>
        <p:txBody>
          <a:bodyPr wrap="square" lIns="0" tIns="0" rIns="0" bIns="0" rtlCol="0" anchor="t">
            <a:noAutofit/>
          </a:bodyPr>
          <a:p>
            <a:pPr algn="l">
              <a:lnSpc>
                <a:spcPct val="104000"/>
              </a:lnSpc>
              <a:spcBef>
                <a:spcPts val="0"/>
              </a:spcBef>
              <a:spcAft>
                <a:spcPts val="0"/>
              </a:spcAft>
            </a:pPr>
            <a:r>
              <a:rPr lang="vi-VN" sz="2500" b="1">
                <a:solidFill>
                  <a:srgbClr val="194B93"/>
                </a:solidFill>
                <a:latin typeface="Arial" panose="020B0604020202020204" pitchFamily="34" charset="0"/>
                <a:cs typeface="Arial" panose="020B0604020202020204" pitchFamily="34" charset="0"/>
              </a:rPr>
              <a:t>Hợp đồng và kiểm toán</a:t>
            </a:r>
            <a:endParaRPr lang="vi-VN" sz="2500" b="1">
              <a:solidFill>
                <a:srgbClr val="194B93"/>
              </a:solidFill>
              <a:latin typeface="Arial" panose="020B0604020202020204" pitchFamily="34" charset="0"/>
              <a:cs typeface="Arial" panose="020B0604020202020204" pitchFamily="34" charset="0"/>
            </a:endParaRPr>
          </a:p>
        </p:txBody>
      </p:sp>
      <p:sp>
        <p:nvSpPr>
          <p:cNvPr id="10" name="Text Box 9"/>
          <p:cNvSpPr txBox="1"/>
          <p:nvPr/>
        </p:nvSpPr>
        <p:spPr>
          <a:xfrm>
            <a:off x="6921500" y="2184400"/>
            <a:ext cx="4699000" cy="3213100"/>
          </a:xfrm>
          <a:prstGeom prst="rect">
            <a:avLst/>
          </a:prstGeom>
          <a:noFill/>
        </p:spPr>
        <p:txBody>
          <a:bodyPr wrap="square" lIns="0" tIns="0" rIns="0" bIns="0" rtlCol="0" anchor="t">
            <a:noAutofit/>
          </a:bodyPr>
          <a:p>
            <a:pPr algn="l">
              <a:lnSpc>
                <a:spcPct val="104000"/>
              </a:lnSpc>
              <a:spcBef>
                <a:spcPts val="0"/>
              </a:spcBef>
              <a:spcAft>
                <a:spcPts val="0"/>
              </a:spcAft>
            </a:pPr>
            <a:r>
              <a:rPr lang="vi-VN" sz="2100">
                <a:solidFill>
                  <a:srgbClr val="172B43"/>
                </a:solidFill>
                <a:latin typeface="Arial" panose="020B0604020202020204" pitchFamily="34" charset="0"/>
                <a:cs typeface="Arial" panose="020B0604020202020204" pitchFamily="34" charset="0"/>
              </a:rPr>
              <a:t>Typed interfaces giữa các vai trò
RunStore giữ identities và provenance
Budget được giữ trước dispatch
Jev: tùy chọn, đang waitlist</a:t>
            </a:r>
            <a:endParaRPr lang="vi-VN" sz="2100">
              <a:solidFill>
                <a:srgbClr val="172B43"/>
              </a:solidFill>
              <a:latin typeface="Arial" panose="020B0604020202020204" pitchFamily="34" charset="0"/>
              <a:cs typeface="Arial" panose="020B0604020202020204" pitchFamily="34" charset="0"/>
            </a:endParaRPr>
          </a:p>
        </p:txBody>
      </p:sp>
      <p:sp>
        <p:nvSpPr>
          <p:cNvPr id="11" name="Text Box 10"/>
          <p:cNvSpPr txBox="1"/>
          <p:nvPr/>
        </p:nvSpPr>
        <p:spPr>
          <a:xfrm>
            <a:off x="571500" y="5740400"/>
            <a:ext cx="11049000" cy="609600"/>
          </a:xfrm>
          <a:prstGeom prst="rect">
            <a:avLst/>
          </a:prstGeom>
          <a:noFill/>
        </p:spPr>
        <p:txBody>
          <a:bodyPr wrap="square" lIns="0" tIns="0" rIns="0" bIns="0" rtlCol="0" anchor="t">
            <a:noAutofit/>
          </a:bodyPr>
          <a:p>
            <a:pPr algn="l">
              <a:lnSpc>
                <a:spcPct val="104000"/>
              </a:lnSpc>
              <a:spcBef>
                <a:spcPts val="0"/>
              </a:spcBef>
              <a:spcAft>
                <a:spcPts val="0"/>
              </a:spcAft>
            </a:pPr>
            <a:r>
              <a:rPr lang="vi-VN" sz="1900">
                <a:solidFill>
                  <a:srgbClr val="506074"/>
                </a:solidFill>
                <a:latin typeface="Arial" panose="020B0604020202020204" pitchFamily="34" charset="0"/>
                <a:cs typeface="Arial" panose="020B0604020202020204" pitchFamily="34" charset="0"/>
              </a:rPr>
              <a:t>Cận trên: initial ≤ 1, corrective ≤ 1, revision ≤ 1
Tối đa 34 LLM requests / cell + 1 Planner chung / block</a:t>
            </a:r>
            <a:endParaRPr lang="vi-VN" sz="1900">
              <a:solidFill>
                <a:srgbClr val="506074"/>
              </a:solidFill>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Kết quả kỹ thuật tại baseline ac4ade7</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Tại baseline ac4ade7. Nguồn: aggregate receipts đã có, không chạy lại khi biên soạn</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13 / 15</a:t>
            </a:r>
            <a:endParaRPr lang="vi-VN" sz="1200">
              <a:solidFill>
                <a:srgbClr val="506074"/>
              </a:solidFill>
              <a:latin typeface="Arial" panose="020B0604020202020204" pitchFamily="34" charset="0"/>
              <a:cs typeface="Arial" panose="020B0604020202020204" pitchFamily="34" charset="0"/>
            </a:endParaRPr>
          </a:p>
        </p:txBody>
      </p:sp>
      <p:sp>
        <p:nvSpPr>
          <p:cNvPr id="7" name="Text Box 6"/>
          <p:cNvSpPr txBox="1"/>
          <p:nvPr/>
        </p:nvSpPr>
        <p:spPr>
          <a:xfrm>
            <a:off x="571500" y="1397000"/>
            <a:ext cx="11049000" cy="444500"/>
          </a:xfrm>
          <a:prstGeom prst="rect">
            <a:avLst/>
          </a:prstGeom>
          <a:noFill/>
        </p:spPr>
        <p:txBody>
          <a:bodyPr wrap="square" lIns="0" tIns="0" rIns="0" bIns="0" rtlCol="0" anchor="t">
            <a:noAutofit/>
          </a:bodyPr>
          <a:p>
            <a:pPr algn="l">
              <a:lnSpc>
                <a:spcPct val="104000"/>
              </a:lnSpc>
              <a:spcBef>
                <a:spcPts val="0"/>
              </a:spcBef>
              <a:spcAft>
                <a:spcPts val="0"/>
              </a:spcAft>
            </a:pPr>
            <a:r>
              <a:rPr lang="vi-VN" sz="2400" b="1">
                <a:solidFill>
                  <a:srgbClr val="194B93"/>
                </a:solidFill>
                <a:latin typeface="Arial" panose="020B0604020202020204" pitchFamily="34" charset="0"/>
                <a:cs typeface="Arial" panose="020B0604020202020204" pitchFamily="34" charset="0"/>
              </a:rPr>
              <a:t>Native MOCK qualification, 0 real-provider API calls</a:t>
            </a:r>
            <a:endParaRPr lang="vi-VN" sz="2400" b="1">
              <a:solidFill>
                <a:srgbClr val="194B93"/>
              </a:solidFill>
              <a:latin typeface="Arial" panose="020B0604020202020204" pitchFamily="34" charset="0"/>
              <a:cs typeface="Arial" panose="020B0604020202020204" pitchFamily="34" charset="0"/>
            </a:endParaRPr>
          </a:p>
        </p:txBody>
      </p:sp>
      <p:graphicFrame>
        <p:nvGraphicFramePr>
          <p:cNvPr id="8" name="Table 7"/>
          <p:cNvGraphicFramePr/>
          <p:nvPr/>
        </p:nvGraphicFramePr>
        <p:xfrm>
          <a:off x="571500" y="1993900"/>
          <a:ext cx="11049000" cy="3492500"/>
        </p:xfrm>
        <a:graphic>
          <a:graphicData uri="http://schemas.openxmlformats.org/drawingml/2006/table">
            <a:tbl>
              <a:tblPr firstRow="1" bandRow="1">
                <a:tableStyleId>{5C22544A-7EE6-4342-B048-85BDC9FD1C3A}</a:tableStyleId>
              </a:tblPr>
              <a:tblGrid>
                <a:gridCol w="2349500"/>
                <a:gridCol w="4445000"/>
                <a:gridCol w="4254500"/>
              </a:tblGrid>
              <a:tr h="482600">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Hạng mục</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Kết quả baseline</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c>
                  <a:txBody>
                    <a:bodyPr wrap="square"/>
                    <a:p>
                      <a:pPr algn="l">
                        <a:lnSpc>
                          <a:spcPct val="100000"/>
                        </a:lnSpc>
                        <a:spcBef>
                          <a:spcPts val="0"/>
                        </a:spcBef>
                        <a:spcAft>
                          <a:spcPts val="0"/>
                        </a:spcAft>
                        <a:buNone/>
                      </a:pPr>
                      <a:r>
                        <a:rPr lang="vi-VN" sz="1800" b="1">
                          <a:solidFill>
                            <a:srgbClr val="FFFFFF"/>
                          </a:solidFill>
                          <a:latin typeface="Arial" panose="020B0604020202020204" pitchFamily="34" charset="0"/>
                          <a:cs typeface="Arial" panose="020B0604020202020204" pitchFamily="34" charset="0"/>
                        </a:rPr>
                        <a:t>Diễn giải</a:t>
                      </a:r>
                      <a:endParaRPr lang="vi-VN" sz="1800" b="1">
                        <a:solidFill>
                          <a:srgbClr val="FFFFFF"/>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194B93"/>
                    </a:solidFill>
                  </a:tcPr>
                </a:tc>
              </a:tr>
              <a:tr h="6731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MOCK pilot</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9/9 terminal cells
3 shared preparations</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Vận hành controller và retrieval</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r>
              <a:tr h="6731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MOCK full</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144/144 terminal cells
48 shared preparations</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Kịch bản fake SDK xác định</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r>
              <a:tr h="6731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Critical tests</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129/129 PASS
0 fail / error / skip</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Kiểm tra kỹ thuật có receipt</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EAF0F7"/>
                    </a:solidFill>
                  </a:tcPr>
                </a:tc>
              </a:tr>
              <a:tr h="990600">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Regression</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PARTIAL: 103/109 modules
1.400 PASS, 21 SKIP
6 RESOURCE_BLOCKED</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c>
                  <a:txBody>
                    <a:bodyPr wrap="square"/>
                    <a:p>
                      <a:pPr algn="l">
                        <a:lnSpc>
                          <a:spcPct val="100000"/>
                        </a:lnSpc>
                        <a:spcBef>
                          <a:spcPts val="0"/>
                        </a:spcBef>
                        <a:spcAft>
                          <a:spcPts val="0"/>
                        </a:spcAft>
                        <a:buNone/>
                      </a:pPr>
                      <a:r>
                        <a:rPr lang="vi-VN" sz="1800" b="0">
                          <a:solidFill>
                            <a:srgbClr val="172B43"/>
                          </a:solidFill>
                          <a:latin typeface="Arial" panose="020B0604020202020204" pitchFamily="34" charset="0"/>
                          <a:cs typeface="Arial" panose="020B0604020202020204" pitchFamily="34" charset="0"/>
                        </a:rPr>
                        <a:t>Composite inventory
Chưa hoàn tất full suite</a:t>
                      </a:r>
                      <a:endParaRPr lang="vi-VN" sz="1800" b="0">
                        <a:solidFill>
                          <a:srgbClr val="172B43"/>
                        </a:solidFill>
                        <a:latin typeface="Arial" panose="020B0604020202020204" pitchFamily="34" charset="0"/>
                        <a:cs typeface="Arial" panose="020B0604020202020204" pitchFamily="34" charset="0"/>
                      </a:endParaRPr>
                    </a:p>
                  </a:txBody>
                  <a:tcPr marL="101600" marR="101600" marT="63500" marB="63500" anchor="ctr">
                    <a:lnL w="8890" cmpd="sng">
                      <a:solidFill>
                        <a:srgbClr val="C9D3DF"/>
                      </a:solidFill>
                    </a:lnL>
                    <a:lnR w="8890" cmpd="sng">
                      <a:solidFill>
                        <a:srgbClr val="C9D3DF"/>
                      </a:solidFill>
                    </a:lnR>
                    <a:lnT w="8890" cmpd="sng">
                      <a:solidFill>
                        <a:srgbClr val="C9D3DF"/>
                      </a:solidFill>
                    </a:lnT>
                    <a:lnB w="8890" cmpd="sng">
                      <a:solidFill>
                        <a:srgbClr val="C9D3DF"/>
                      </a:solidFill>
                    </a:lnB>
                    <a:solidFill>
                      <a:srgbClr val="FFFFFF"/>
                    </a:solidFill>
                  </a:tcPr>
                </a:tc>
              </a:tr>
            </a:tbl>
          </a:graphicData>
        </a:graphic>
      </p:graphicFrame>
      <p:sp>
        <p:nvSpPr>
          <p:cNvPr id="9" name="Text Box 8"/>
          <p:cNvSpPr txBox="1"/>
          <p:nvPr/>
        </p:nvSpPr>
        <p:spPr>
          <a:xfrm>
            <a:off x="571500" y="5664200"/>
            <a:ext cx="11049000" cy="342900"/>
          </a:xfrm>
          <a:prstGeom prst="rect">
            <a:avLst/>
          </a:prstGeom>
          <a:noFill/>
        </p:spPr>
        <p:txBody>
          <a:bodyPr wrap="square" lIns="0" tIns="0" rIns="0" bIns="0" rtlCol="0" anchor="t">
            <a:noAutofit/>
          </a:bodyPr>
          <a:p>
            <a:pPr algn="l">
              <a:lnSpc>
                <a:spcPct val="104000"/>
              </a:lnSpc>
              <a:spcBef>
                <a:spcPts val="0"/>
              </a:spcBef>
              <a:spcAft>
                <a:spcPts val="0"/>
              </a:spcAft>
            </a:pPr>
            <a:r>
              <a:rPr lang="vi-VN" sz="2200" b="1">
                <a:solidFill>
                  <a:srgbClr val="D5222A"/>
                </a:solidFill>
                <a:latin typeface="Arial" panose="020B0604020202020204" pitchFamily="34" charset="0"/>
                <a:cs typeface="Arial" panose="020B0604020202020204" pitchFamily="34" charset="0"/>
              </a:rPr>
              <a:t>E1-v2 REAL PROVIDER: NOT_EXECUTED</a:t>
            </a:r>
            <a:endParaRPr lang="vi-VN" sz="2200" b="1">
              <a:solidFill>
                <a:srgbClr val="D5222A"/>
              </a:solidFill>
              <a:latin typeface="Arial" panose="020B0604020202020204" pitchFamily="34" charset="0"/>
              <a:cs typeface="Arial" panose="020B0604020202020204" pitchFamily="34" charset="0"/>
            </a:endParaRPr>
          </a:p>
        </p:txBody>
      </p:sp>
      <p:sp>
        <p:nvSpPr>
          <p:cNvPr id="10" name="Text Box 9"/>
          <p:cNvSpPr txBox="1"/>
          <p:nvPr/>
        </p:nvSpPr>
        <p:spPr>
          <a:xfrm>
            <a:off x="571500" y="6057900"/>
            <a:ext cx="11049000" cy="317500"/>
          </a:xfrm>
          <a:prstGeom prst="rect">
            <a:avLst/>
          </a:prstGeom>
          <a:noFill/>
        </p:spPr>
        <p:txBody>
          <a:bodyPr wrap="square" lIns="0" tIns="0" rIns="0" bIns="0" rtlCol="0" anchor="t">
            <a:noAutofit/>
          </a:bodyPr>
          <a:p>
            <a:pPr algn="l">
              <a:lnSpc>
                <a:spcPct val="104000"/>
              </a:lnSpc>
              <a:spcBef>
                <a:spcPts val="0"/>
              </a:spcBef>
              <a:spcAft>
                <a:spcPts val="0"/>
              </a:spcAft>
            </a:pPr>
            <a:r>
              <a:rPr lang="vi-VN" sz="2000" b="1">
                <a:solidFill>
                  <a:srgbClr val="D5222A"/>
                </a:solidFill>
                <a:latin typeface="Arial" panose="020B0604020202020204" pitchFamily="34" charset="0"/>
                <a:cs typeface="Arial" panose="020B0604020202020204" pitchFamily="34" charset="0"/>
              </a:rPr>
              <a:t>Clinical quality: NOT_EVALUABLE, 0/16 items đủ điều kiện</a:t>
            </a:r>
            <a:endParaRPr lang="vi-VN" sz="2000" b="1">
              <a:solidFill>
                <a:srgbClr val="D5222A"/>
              </a:solidFill>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Giới hạn và bước tiếp theo</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Nguồn: content contract §8–9; các bước LIVE/scoring cần gate riêng</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14 / 15</a:t>
            </a:r>
            <a:endParaRPr lang="vi-VN" sz="1200">
              <a:solidFill>
                <a:srgbClr val="506074"/>
              </a:solidFill>
              <a:latin typeface="Arial" panose="020B0604020202020204" pitchFamily="34" charset="0"/>
              <a:cs typeface="Arial" panose="020B0604020202020204" pitchFamily="34" charset="0"/>
            </a:endParaRPr>
          </a:p>
        </p:txBody>
      </p:sp>
      <p:sp>
        <p:nvSpPr>
          <p:cNvPr id="7" name="Text Box 6"/>
          <p:cNvSpPr txBox="1"/>
          <p:nvPr/>
        </p:nvSpPr>
        <p:spPr>
          <a:xfrm>
            <a:off x="571500" y="1536700"/>
            <a:ext cx="5270500" cy="431800"/>
          </a:xfrm>
          <a:prstGeom prst="rect">
            <a:avLst/>
          </a:prstGeom>
          <a:noFill/>
        </p:spPr>
        <p:txBody>
          <a:bodyPr wrap="square" lIns="0" tIns="0" rIns="0" bIns="0" rtlCol="0" anchor="t">
            <a:noAutofit/>
          </a:bodyPr>
          <a:p>
            <a:pPr algn="l">
              <a:lnSpc>
                <a:spcPct val="104000"/>
              </a:lnSpc>
              <a:spcBef>
                <a:spcPts val="0"/>
              </a:spcBef>
              <a:spcAft>
                <a:spcPts val="0"/>
              </a:spcAft>
            </a:pPr>
            <a:r>
              <a:rPr lang="vi-VN" sz="2600" b="1">
                <a:solidFill>
                  <a:srgbClr val="194B93"/>
                </a:solidFill>
                <a:latin typeface="Arial" panose="020B0604020202020204" pitchFamily="34" charset="0"/>
                <a:cs typeface="Arial" panose="020B0604020202020204" pitchFamily="34" charset="0"/>
              </a:rPr>
              <a:t>Giới hạn suy luận</a:t>
            </a:r>
            <a:endParaRPr lang="vi-VN" sz="2600" b="1">
              <a:solidFill>
                <a:srgbClr val="194B93"/>
              </a:solidFill>
              <a:latin typeface="Arial" panose="020B0604020202020204" pitchFamily="34" charset="0"/>
              <a:cs typeface="Arial" panose="020B0604020202020204" pitchFamily="34" charset="0"/>
            </a:endParaRPr>
          </a:p>
        </p:txBody>
      </p:sp>
      <p:sp>
        <p:nvSpPr>
          <p:cNvPr id="8" name="Text Box 7"/>
          <p:cNvSpPr txBox="1"/>
          <p:nvPr/>
        </p:nvSpPr>
        <p:spPr>
          <a:xfrm>
            <a:off x="571500" y="2235200"/>
            <a:ext cx="5461000" cy="3467100"/>
          </a:xfrm>
          <a:prstGeom prst="rect">
            <a:avLst/>
          </a:prstGeom>
          <a:noFill/>
        </p:spPr>
        <p:txBody>
          <a:bodyPr wrap="square" lIns="0" tIns="0" rIns="0" bIns="0" rtlCol="0" anchor="t">
            <a:noAutofit/>
          </a:bodyPr>
          <a:p>
            <a:pPr algn="l">
              <a:lnSpc>
                <a:spcPct val="104000"/>
              </a:lnSpc>
              <a:spcBef>
                <a:spcPts val="0"/>
              </a:spcBef>
              <a:spcAft>
                <a:spcPts val="0"/>
              </a:spcAft>
            </a:pPr>
            <a:r>
              <a:rPr lang="vi-VN" sz="2100">
                <a:solidFill>
                  <a:srgbClr val="172B43"/>
                </a:solidFill>
                <a:latin typeface="Arial" panose="020B0604020202020204" pitchFamily="34" charset="0"/>
                <a:cs typeface="Arial" panose="020B0604020202020204" pitchFamily="34" charset="0"/>
              </a:rPr>
              <a:t>16 ca DEV, lịch sử hiệu chỉnh DEV
Có thể có intents hoặc ca liên quan
Gating phụ thuộc Plan dự đoán
Giới hạn ngôn ngữ của MedCPT
A1/G khác nhau theo cả gói policy</a:t>
            </a:r>
            <a:endParaRPr lang="vi-VN" sz="2100">
              <a:solidFill>
                <a:srgbClr val="172B43"/>
              </a:solidFill>
              <a:latin typeface="Arial" panose="020B0604020202020204" pitchFamily="34" charset="0"/>
              <a:cs typeface="Arial" panose="020B0604020202020204" pitchFamily="34" charset="0"/>
            </a:endParaRPr>
          </a:p>
        </p:txBody>
      </p:sp>
      <p:cxnSp>
        <p:nvCxnSpPr>
          <p:cNvPr id="9" name="Straight Connector 8"/>
          <p:cNvCxnSpPr/>
          <p:nvPr/>
        </p:nvCxnSpPr>
        <p:spPr>
          <a:xfrm>
            <a:off x="6350000" y="1536700"/>
            <a:ext cx="635" cy="4356100"/>
          </a:xfrm>
          <a:prstGeom prst="line">
            <a:avLst/>
          </a:prstGeom>
          <a:ln w="12700">
            <a:solidFill>
              <a:srgbClr val="C9D3DF"/>
            </a:solidFill>
          </a:ln>
        </p:spPr>
        <p:style>
          <a:lnRef idx="2">
            <a:schemeClr val="accent1"/>
          </a:lnRef>
          <a:fillRef idx="0">
            <a:srgbClr val="FFFFFF"/>
          </a:fillRef>
          <a:effectRef idx="0">
            <a:srgbClr val="FFFFFF"/>
          </a:effectRef>
          <a:fontRef idx="minor">
            <a:schemeClr val="tx1"/>
          </a:fontRef>
        </p:style>
      </p:cxnSp>
      <p:sp>
        <p:nvSpPr>
          <p:cNvPr id="10" name="Text Box 9"/>
          <p:cNvSpPr txBox="1"/>
          <p:nvPr/>
        </p:nvSpPr>
        <p:spPr>
          <a:xfrm>
            <a:off x="6921500" y="1536700"/>
            <a:ext cx="4699000" cy="723900"/>
          </a:xfrm>
          <a:prstGeom prst="rect">
            <a:avLst/>
          </a:prstGeom>
          <a:noFill/>
        </p:spPr>
        <p:txBody>
          <a:bodyPr wrap="square" lIns="0" tIns="0" rIns="0" bIns="0" rtlCol="0" anchor="t">
            <a:noAutofit/>
          </a:bodyPr>
          <a:p>
            <a:pPr algn="l">
              <a:lnSpc>
                <a:spcPct val="104000"/>
              </a:lnSpc>
              <a:spcBef>
                <a:spcPts val="0"/>
              </a:spcBef>
              <a:spcAft>
                <a:spcPts val="0"/>
              </a:spcAft>
            </a:pPr>
            <a:r>
              <a:rPr lang="vi-VN" sz="2600" b="1">
                <a:solidFill>
                  <a:srgbClr val="194B93"/>
                </a:solidFill>
                <a:latin typeface="Arial" panose="020B0604020202020204" pitchFamily="34" charset="0"/>
                <a:cs typeface="Arial" panose="020B0604020202020204" pitchFamily="34" charset="0"/>
              </a:rPr>
              <a:t>Milestone kỹ thuật kế tiếp</a:t>
            </a:r>
            <a:endParaRPr lang="vi-VN" sz="2600" b="1">
              <a:solidFill>
                <a:srgbClr val="194B93"/>
              </a:solidFill>
              <a:latin typeface="Arial" panose="020B0604020202020204" pitchFamily="34" charset="0"/>
              <a:cs typeface="Arial" panose="020B0604020202020204" pitchFamily="34" charset="0"/>
            </a:endParaRPr>
          </a:p>
        </p:txBody>
      </p:sp>
      <p:sp>
        <p:nvSpPr>
          <p:cNvPr id="11" name="Text Box 10"/>
          <p:cNvSpPr txBox="1"/>
          <p:nvPr/>
        </p:nvSpPr>
        <p:spPr>
          <a:xfrm>
            <a:off x="6921500" y="2451100"/>
            <a:ext cx="4699000" cy="1320800"/>
          </a:xfrm>
          <a:prstGeom prst="rect">
            <a:avLst/>
          </a:prstGeom>
          <a:noFill/>
        </p:spPr>
        <p:txBody>
          <a:bodyPr wrap="square" lIns="0" tIns="0" rIns="0" bIns="0" rtlCol="0" anchor="t">
            <a:noAutofit/>
          </a:bodyPr>
          <a:p>
            <a:pPr algn="l">
              <a:lnSpc>
                <a:spcPct val="104000"/>
              </a:lnSpc>
              <a:spcBef>
                <a:spcPts val="0"/>
              </a:spcBef>
              <a:spcAft>
                <a:spcPts val="0"/>
              </a:spcAft>
            </a:pPr>
            <a:r>
              <a:rPr lang="vi-VN" sz="2500" b="1">
                <a:solidFill>
                  <a:srgbClr val="172B43"/>
                </a:solidFill>
                <a:latin typeface="Arial" panose="020B0604020202020204" pitchFamily="34" charset="0"/>
                <a:cs typeface="Arial" panose="020B0604020202020204" pitchFamily="34" charset="0"/>
              </a:rPr>
              <a:t>Hoàn tất 6 modules
RESOURCE_BLOCKED
trên host đủ tài nguyên</a:t>
            </a:r>
            <a:endParaRPr lang="vi-VN" sz="2500" b="1">
              <a:solidFill>
                <a:srgbClr val="172B43"/>
              </a:solidFill>
              <a:latin typeface="Arial" panose="020B0604020202020204" pitchFamily="34" charset="0"/>
              <a:cs typeface="Arial" panose="020B0604020202020204" pitchFamily="34" charset="0"/>
            </a:endParaRPr>
          </a:p>
        </p:txBody>
      </p:sp>
      <p:sp>
        <p:nvSpPr>
          <p:cNvPr id="12" name="Text Box 11"/>
          <p:cNvSpPr txBox="1"/>
          <p:nvPr/>
        </p:nvSpPr>
        <p:spPr>
          <a:xfrm>
            <a:off x="6921500" y="4076700"/>
            <a:ext cx="4699000" cy="838200"/>
          </a:xfrm>
          <a:prstGeom prst="rect">
            <a:avLst/>
          </a:prstGeom>
          <a:noFill/>
        </p:spPr>
        <p:txBody>
          <a:bodyPr wrap="square" lIns="0" tIns="0" rIns="0" bIns="0" rtlCol="0" anchor="t">
            <a:noAutofit/>
          </a:bodyPr>
          <a:p>
            <a:pPr algn="l">
              <a:lnSpc>
                <a:spcPct val="104000"/>
              </a:lnSpc>
              <a:spcBef>
                <a:spcPts val="0"/>
              </a:spcBef>
              <a:spcAft>
                <a:spcPts val="0"/>
              </a:spcAft>
            </a:pPr>
            <a:r>
              <a:rPr lang="vi-VN" sz="2000">
                <a:solidFill>
                  <a:srgbClr val="506074"/>
                </a:solidFill>
                <a:latin typeface="Arial" panose="020B0604020202020204" pitchFamily="34" charset="0"/>
                <a:cs typeface="Arial" panose="020B0604020202020204" pitchFamily="34" charset="0"/>
              </a:rPr>
              <a:t>Giữ kiểm tra version/baseline
Commit headroom ≥ 3 GiB</a:t>
            </a:r>
            <a:endParaRPr lang="vi-VN" sz="2000">
              <a:solidFill>
                <a:srgbClr val="506074"/>
              </a:solidFill>
              <a:latin typeface="Arial" panose="020B0604020202020204" pitchFamily="34" charset="0"/>
              <a:cs typeface="Arial" panose="020B0604020202020204" pitchFamily="34" charset="0"/>
            </a:endParaRPr>
          </a:p>
        </p:txBody>
      </p:sp>
      <p:sp>
        <p:nvSpPr>
          <p:cNvPr id="13" name="Text Box 12"/>
          <p:cNvSpPr txBox="1"/>
          <p:nvPr/>
        </p:nvSpPr>
        <p:spPr>
          <a:xfrm>
            <a:off x="6921500" y="5334000"/>
            <a:ext cx="4699000" cy="876300"/>
          </a:xfrm>
          <a:prstGeom prst="rect">
            <a:avLst/>
          </a:prstGeom>
          <a:noFill/>
        </p:spPr>
        <p:txBody>
          <a:bodyPr wrap="square" lIns="0" tIns="0" rIns="0" bIns="0" rtlCol="0" anchor="t">
            <a:noAutofit/>
          </a:bodyPr>
          <a:p>
            <a:pPr algn="l">
              <a:lnSpc>
                <a:spcPct val="104000"/>
              </a:lnSpc>
              <a:spcBef>
                <a:spcPts val="0"/>
              </a:spcBef>
              <a:spcAft>
                <a:spcPts val="0"/>
              </a:spcAft>
            </a:pPr>
            <a:r>
              <a:rPr lang="vi-VN" sz="1900">
                <a:solidFill>
                  <a:srgbClr val="172B43"/>
                </a:solidFill>
                <a:latin typeface="Arial" panose="020B0604020202020204" pitchFamily="34" charset="0"/>
                <a:cs typeface="Arial" panose="020B0604020202020204" pitchFamily="34" charset="0"/>
              </a:rPr>
              <a:t>Provider và LIVE cần gate riêng.
Owner scoring trước kết luận so sánh.</a:t>
            </a:r>
            <a:endParaRPr lang="vi-VN" sz="1900">
              <a:solidFill>
                <a:srgbClr val="172B43"/>
              </a:solidFill>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 name="Straight Connector 1"/>
          <p:cNvCxnSpPr/>
          <p:nvPr/>
        </p:nvCxnSpPr>
        <p:spPr>
          <a:xfrm>
            <a:off x="571500" y="317500"/>
            <a:ext cx="11049000" cy="635"/>
          </a:xfrm>
          <a:prstGeom prst="line">
            <a:avLst/>
          </a:prstGeom>
          <a:ln w="27940">
            <a:solidFill>
              <a:srgbClr val="194B93"/>
            </a:solidFill>
          </a:ln>
        </p:spPr>
        <p:style>
          <a:lnRef idx="2">
            <a:schemeClr val="accent1"/>
          </a:lnRef>
          <a:fillRef idx="0">
            <a:srgbClr val="FFFFFF"/>
          </a:fillRef>
          <a:effectRef idx="0">
            <a:srgbClr val="FFFFFF"/>
          </a:effectRef>
          <a:fontRef idx="minor">
            <a:schemeClr val="tx1"/>
          </a:fontRef>
        </p:style>
      </p:cxnSp>
      <p:sp>
        <p:nvSpPr>
          <p:cNvPr id="3" name="Slide title"/>
          <p:cNvSpPr txBox="1"/>
          <p:nvPr/>
        </p:nvSpPr>
        <p:spPr>
          <a:xfrm>
            <a:off x="571500" y="533400"/>
            <a:ext cx="11049000" cy="660400"/>
          </a:xfrm>
          <a:prstGeom prst="rect">
            <a:avLst/>
          </a:prstGeom>
          <a:noFill/>
        </p:spPr>
        <p:txBody>
          <a:bodyPr wrap="square" lIns="0" tIns="0" rIns="0" bIns="0" rtlCol="0" anchor="t">
            <a:noAutofit/>
          </a:bodyPr>
          <a:p>
            <a:pPr algn="l">
              <a:lnSpc>
                <a:spcPct val="104000"/>
              </a:lnSpc>
              <a:spcBef>
                <a:spcPts val="0"/>
              </a:spcBef>
              <a:spcAft>
                <a:spcPts val="0"/>
              </a:spcAft>
            </a:pPr>
            <a:r>
              <a:rPr lang="vi-VN" sz="3200" b="1">
                <a:solidFill>
                  <a:srgbClr val="194B93"/>
                </a:solidFill>
                <a:latin typeface="Arial" panose="020B0604020202020204" pitchFamily="34" charset="0"/>
                <a:cs typeface="Arial" panose="020B0604020202020204" pitchFamily="34" charset="0"/>
              </a:rPr>
              <a:t>Kết luận và trao đổi</a:t>
            </a:r>
            <a:endParaRPr lang="vi-VN" sz="3200" b="1">
              <a:solidFill>
                <a:srgbClr val="194B93"/>
              </a:solidFill>
              <a:latin typeface="Arial" panose="020B0604020202020204" pitchFamily="34" charset="0"/>
              <a:cs typeface="Arial" panose="020B0604020202020204" pitchFamily="34" charset="0"/>
            </a:endParaRPr>
          </a:p>
        </p:txBody>
      </p:sp>
      <p:cxnSp>
        <p:nvCxnSpPr>
          <p:cNvPr id="4" name="Straight Connector 3"/>
          <p:cNvCxnSpPr/>
          <p:nvPr/>
        </p:nvCxnSpPr>
        <p:spPr>
          <a:xfrm>
            <a:off x="571500" y="6400800"/>
            <a:ext cx="11049000" cy="635"/>
          </a:xfrm>
          <a:prstGeom prst="line">
            <a:avLst/>
          </a:prstGeom>
          <a:ln w="10160">
            <a:solidFill>
              <a:srgbClr val="C9D3DF"/>
            </a:solidFill>
          </a:ln>
        </p:spPr>
        <p:style>
          <a:lnRef idx="2">
            <a:schemeClr val="accent1"/>
          </a:lnRef>
          <a:fillRef idx="0">
            <a:srgbClr val="FFFFFF"/>
          </a:fillRef>
          <a:effectRef idx="0">
            <a:srgbClr val="FFFFFF"/>
          </a:effectRef>
          <a:fontRef idx="minor">
            <a:schemeClr val="tx1"/>
          </a:fontRef>
        </p:style>
      </p:cxnSp>
      <p:sp>
        <p:nvSpPr>
          <p:cNvPr id="5" name="Source footer"/>
          <p:cNvSpPr txBox="1"/>
          <p:nvPr/>
        </p:nvSpPr>
        <p:spPr>
          <a:xfrm>
            <a:off x="571500" y="6502400"/>
            <a:ext cx="10350500" cy="228600"/>
          </a:xfrm>
          <a:prstGeom prst="rect">
            <a:avLst/>
          </a:prstGeom>
          <a:noFill/>
        </p:spPr>
        <p:txBody>
          <a:bodyPr wrap="square" lIns="0" tIns="0" rIns="0" bIns="0" rtlCol="0" anchor="t">
            <a:noAutofit/>
          </a:bodyPr>
          <a:p>
            <a:pPr algn="l">
              <a:lnSpc>
                <a:spcPct val="104000"/>
              </a:lnSpc>
              <a:spcBef>
                <a:spcPts val="0"/>
              </a:spcBef>
              <a:spcAft>
                <a:spcPts val="0"/>
              </a:spcAft>
            </a:pPr>
            <a:r>
              <a:rPr lang="vi-VN" sz="1120">
                <a:solidFill>
                  <a:srgbClr val="506074"/>
                </a:solidFill>
                <a:latin typeface="Arial" panose="020B0604020202020204" pitchFamily="34" charset="0"/>
                <a:cs typeface="Arial" panose="020B0604020202020204" pitchFamily="34" charset="0"/>
              </a:rPr>
              <a:t>Scientific baseline ac4ade7; E1-v2 real-provider execution và clinical scoring còn chờ</a:t>
            </a:r>
            <a:endParaRPr lang="vi-VN" sz="1120">
              <a:solidFill>
                <a:srgbClr val="506074"/>
              </a:solidFill>
              <a:latin typeface="Arial" panose="020B0604020202020204" pitchFamily="34" charset="0"/>
              <a:cs typeface="Arial" panose="020B0604020202020204" pitchFamily="34" charset="0"/>
            </a:endParaRPr>
          </a:p>
        </p:txBody>
      </p:sp>
      <p:sp>
        <p:nvSpPr>
          <p:cNvPr id="6" name="Page number"/>
          <p:cNvSpPr txBox="1"/>
          <p:nvPr/>
        </p:nvSpPr>
        <p:spPr>
          <a:xfrm>
            <a:off x="10947400" y="6477000"/>
            <a:ext cx="685800" cy="254000"/>
          </a:xfrm>
          <a:prstGeom prst="rect">
            <a:avLst/>
          </a:prstGeom>
          <a:noFill/>
        </p:spPr>
        <p:txBody>
          <a:bodyPr wrap="square" lIns="0" tIns="0" rIns="0" bIns="0" rtlCol="0" anchor="t">
            <a:noAutofit/>
          </a:bodyPr>
          <a:p>
            <a:pPr algn="r">
              <a:lnSpc>
                <a:spcPct val="104000"/>
              </a:lnSpc>
              <a:spcBef>
                <a:spcPts val="0"/>
              </a:spcBef>
              <a:spcAft>
                <a:spcPts val="0"/>
              </a:spcAft>
            </a:pPr>
            <a:r>
              <a:rPr lang="vi-VN" sz="1200">
                <a:solidFill>
                  <a:srgbClr val="506074"/>
                </a:solidFill>
                <a:latin typeface="Arial" panose="020B0604020202020204" pitchFamily="34" charset="0"/>
                <a:cs typeface="Arial" panose="020B0604020202020204" pitchFamily="34" charset="0"/>
              </a:rPr>
              <a:t>15 / 15</a:t>
            </a:r>
            <a:endParaRPr lang="vi-VN" sz="1200">
              <a:solidFill>
                <a:srgbClr val="506074"/>
              </a:solidFill>
              <a:latin typeface="Arial" panose="020B0604020202020204" pitchFamily="34" charset="0"/>
              <a:cs typeface="Arial" panose="020B0604020202020204" pitchFamily="34" charset="0"/>
            </a:endParaRPr>
          </a:p>
        </p:txBody>
      </p:sp>
      <p:sp>
        <p:nvSpPr>
          <p:cNvPr id="7" name="Text Box 6"/>
          <p:cNvSpPr txBox="1"/>
          <p:nvPr/>
        </p:nvSpPr>
        <p:spPr>
          <a:xfrm>
            <a:off x="571500" y="1612900"/>
            <a:ext cx="11049000" cy="1308100"/>
          </a:xfrm>
          <a:prstGeom prst="rect">
            <a:avLst/>
          </a:prstGeom>
          <a:noFill/>
        </p:spPr>
        <p:txBody>
          <a:bodyPr wrap="square" lIns="0" tIns="0" rIns="0" bIns="0" rtlCol="0" anchor="t">
            <a:noAutofit/>
          </a:bodyPr>
          <a:p>
            <a:pPr algn="l">
              <a:lnSpc>
                <a:spcPct val="104000"/>
              </a:lnSpc>
              <a:spcBef>
                <a:spcPts val="0"/>
              </a:spcBef>
              <a:spcAft>
                <a:spcPts val="0"/>
              </a:spcAft>
            </a:pPr>
            <a:r>
              <a:rPr lang="vi-VN" sz="3400" b="1">
                <a:solidFill>
                  <a:srgbClr val="194B93"/>
                </a:solidFill>
                <a:latin typeface="Arial" panose="020B0604020202020204" pitchFamily="34" charset="0"/>
                <a:cs typeface="Arial" panose="020B0604020202020204" pitchFamily="34" charset="0"/>
              </a:rPr>
              <a:t>Kiểm soát bằng chứng
trước và sau sinh câu trả lời</a:t>
            </a:r>
            <a:endParaRPr lang="vi-VN" sz="3400" b="1">
              <a:solidFill>
                <a:srgbClr val="194B93"/>
              </a:solidFill>
              <a:latin typeface="Arial" panose="020B0604020202020204" pitchFamily="34" charset="0"/>
              <a:cs typeface="Arial" panose="020B0604020202020204" pitchFamily="34" charset="0"/>
            </a:endParaRPr>
          </a:p>
        </p:txBody>
      </p:sp>
      <p:cxnSp>
        <p:nvCxnSpPr>
          <p:cNvPr id="8" name="Straight Connector 7"/>
          <p:cNvCxnSpPr/>
          <p:nvPr/>
        </p:nvCxnSpPr>
        <p:spPr>
          <a:xfrm>
            <a:off x="571500" y="3390900"/>
            <a:ext cx="1333500" cy="635"/>
          </a:xfrm>
          <a:prstGeom prst="line">
            <a:avLst/>
          </a:prstGeom>
          <a:ln w="38100">
            <a:solidFill>
              <a:srgbClr val="D5222A"/>
            </a:solidFill>
          </a:ln>
        </p:spPr>
        <p:style>
          <a:lnRef idx="2">
            <a:schemeClr val="accent1"/>
          </a:lnRef>
          <a:fillRef idx="0">
            <a:srgbClr val="FFFFFF"/>
          </a:fillRef>
          <a:effectRef idx="0">
            <a:srgbClr val="FFFFFF"/>
          </a:effectRef>
          <a:fontRef idx="minor">
            <a:schemeClr val="tx1"/>
          </a:fontRef>
        </p:style>
      </p:cxnSp>
      <p:sp>
        <p:nvSpPr>
          <p:cNvPr id="9" name="Text Box 8"/>
          <p:cNvSpPr txBox="1"/>
          <p:nvPr/>
        </p:nvSpPr>
        <p:spPr>
          <a:xfrm>
            <a:off x="571500" y="3822700"/>
            <a:ext cx="11049000" cy="482600"/>
          </a:xfrm>
          <a:prstGeom prst="rect">
            <a:avLst/>
          </a:prstGeom>
          <a:noFill/>
        </p:spPr>
        <p:txBody>
          <a:bodyPr wrap="square" lIns="0" tIns="0" rIns="0" bIns="0" rtlCol="0" anchor="t">
            <a:noAutofit/>
          </a:bodyPr>
          <a:p>
            <a:pPr algn="l">
              <a:lnSpc>
                <a:spcPct val="104000"/>
              </a:lnSpc>
              <a:spcBef>
                <a:spcPts val="0"/>
              </a:spcBef>
              <a:spcAft>
                <a:spcPts val="0"/>
              </a:spcAft>
            </a:pPr>
            <a:r>
              <a:rPr lang="vi-VN" sz="2500">
                <a:solidFill>
                  <a:srgbClr val="172B43"/>
                </a:solidFill>
                <a:latin typeface="Arial" panose="020B0604020202020204" pitchFamily="34" charset="0"/>
                <a:cs typeface="Arial" panose="020B0604020202020204" pitchFamily="34" charset="0"/>
              </a:rPr>
              <a:t>Framework có typed contracts và guard xác định</a:t>
            </a:r>
            <a:endParaRPr lang="vi-VN" sz="2500">
              <a:solidFill>
                <a:srgbClr val="172B43"/>
              </a:solidFill>
              <a:latin typeface="Arial" panose="020B0604020202020204" pitchFamily="34" charset="0"/>
              <a:cs typeface="Arial" panose="020B0604020202020204" pitchFamily="34" charset="0"/>
            </a:endParaRPr>
          </a:p>
        </p:txBody>
      </p:sp>
      <p:sp>
        <p:nvSpPr>
          <p:cNvPr id="10" name="Text Box 9"/>
          <p:cNvSpPr txBox="1"/>
          <p:nvPr/>
        </p:nvSpPr>
        <p:spPr>
          <a:xfrm>
            <a:off x="571500" y="4559300"/>
            <a:ext cx="11049000" cy="482600"/>
          </a:xfrm>
          <a:prstGeom prst="rect">
            <a:avLst/>
          </a:prstGeom>
          <a:noFill/>
        </p:spPr>
        <p:txBody>
          <a:bodyPr wrap="square" lIns="0" tIns="0" rIns="0" bIns="0" rtlCol="0" anchor="t">
            <a:noAutofit/>
          </a:bodyPr>
          <a:p>
            <a:pPr algn="l">
              <a:lnSpc>
                <a:spcPct val="104000"/>
              </a:lnSpc>
              <a:spcBef>
                <a:spcPts val="0"/>
              </a:spcBef>
              <a:spcAft>
                <a:spcPts val="0"/>
              </a:spcAft>
            </a:pPr>
            <a:r>
              <a:rPr lang="vi-VN" sz="2500">
                <a:solidFill>
                  <a:srgbClr val="172B43"/>
                </a:solidFill>
                <a:latin typeface="Arial" panose="020B0604020202020204" pitchFamily="34" charset="0"/>
                <a:cs typeface="Arial" panose="020B0604020202020204" pitchFamily="34" charset="0"/>
              </a:rPr>
              <a:t>Native MOCK xác nhận vận hành kỹ thuật</a:t>
            </a:r>
            <a:endParaRPr lang="vi-VN" sz="2500">
              <a:solidFill>
                <a:srgbClr val="172B43"/>
              </a:solidFill>
              <a:latin typeface="Arial" panose="020B0604020202020204" pitchFamily="34" charset="0"/>
              <a:cs typeface="Arial" panose="020B0604020202020204" pitchFamily="34" charset="0"/>
            </a:endParaRPr>
          </a:p>
        </p:txBody>
      </p:sp>
      <p:sp>
        <p:nvSpPr>
          <p:cNvPr id="11" name="Text Box 10"/>
          <p:cNvSpPr txBox="1"/>
          <p:nvPr/>
        </p:nvSpPr>
        <p:spPr>
          <a:xfrm>
            <a:off x="571500" y="5295900"/>
            <a:ext cx="11049000" cy="482600"/>
          </a:xfrm>
          <a:prstGeom prst="rect">
            <a:avLst/>
          </a:prstGeom>
          <a:noFill/>
        </p:spPr>
        <p:txBody>
          <a:bodyPr wrap="square" lIns="0" tIns="0" rIns="0" bIns="0" rtlCol="0" anchor="t">
            <a:noAutofit/>
          </a:bodyPr>
          <a:p>
            <a:pPr algn="l">
              <a:lnSpc>
                <a:spcPct val="104000"/>
              </a:lnSpc>
              <a:spcBef>
                <a:spcPts val="0"/>
              </a:spcBef>
              <a:spcAft>
                <a:spcPts val="0"/>
              </a:spcAft>
            </a:pPr>
            <a:r>
              <a:rPr lang="vi-VN" sz="2500">
                <a:solidFill>
                  <a:srgbClr val="172B43"/>
                </a:solidFill>
                <a:latin typeface="Arial" panose="020B0604020202020204" pitchFamily="34" charset="0"/>
                <a:cs typeface="Arial" panose="020B0604020202020204" pitchFamily="34" charset="0"/>
              </a:rPr>
              <a:t>RQ1–RQ3 cần thực thi và đánh giá độc lập</a:t>
            </a:r>
            <a:endParaRPr lang="vi-VN" sz="2500">
              <a:solidFill>
                <a:srgbClr val="172B43"/>
              </a:solidFill>
              <a:latin typeface="Arial" panose="020B0604020202020204" pitchFamily="34" charset="0"/>
              <a:cs typeface="Arial" panose="020B0604020202020204" pitchFamily="34" charset="0"/>
            </a:endParaRPr>
          </a:p>
        </p:txBody>
      </p:sp>
      <p:sp>
        <p:nvSpPr>
          <p:cNvPr id="12" name="Text Box 11"/>
          <p:cNvSpPr txBox="1"/>
          <p:nvPr/>
        </p:nvSpPr>
        <p:spPr>
          <a:xfrm>
            <a:off x="9715500" y="5905500"/>
            <a:ext cx="1905000" cy="444500"/>
          </a:xfrm>
          <a:prstGeom prst="rect">
            <a:avLst/>
          </a:prstGeom>
          <a:noFill/>
        </p:spPr>
        <p:txBody>
          <a:bodyPr wrap="square" lIns="0" tIns="0" rIns="0" bIns="0" rtlCol="0" anchor="t">
            <a:noAutofit/>
          </a:bodyPr>
          <a:p>
            <a:pPr algn="r">
              <a:lnSpc>
                <a:spcPct val="104000"/>
              </a:lnSpc>
              <a:spcBef>
                <a:spcPts val="0"/>
              </a:spcBef>
              <a:spcAft>
                <a:spcPts val="0"/>
              </a:spcAft>
            </a:pPr>
            <a:r>
              <a:rPr lang="vi-VN" sz="2300" b="1">
                <a:solidFill>
                  <a:srgbClr val="194B93"/>
                </a:solidFill>
                <a:latin typeface="Arial" panose="020B0604020202020204" pitchFamily="34" charset="0"/>
                <a:cs typeface="Arial" panose="020B0604020202020204" pitchFamily="34" charset="0"/>
              </a:rPr>
              <a:t>Trao đổi</a:t>
            </a:r>
            <a:endParaRPr lang="vi-VN" sz="2300" b="1">
              <a:solidFill>
                <a:srgbClr val="194B93"/>
              </a:solidFill>
              <a:latin typeface="Arial" panose="020B0604020202020204" pitchFamily="34"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6897</Words>
  <Application>WPS Presentation</Application>
  <PresentationFormat>Widescreen</PresentationFormat>
  <Paragraphs>466</Paragraphs>
  <Slides>15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15</vt:i4>
      </vt:variant>
    </vt:vector>
  </HeadingPairs>
  <TitlesOfParts>
    <vt:vector size="20" baseType="lpstr">
      <vt:lpstr>Arial</vt:lpstr>
      <vt:lpstr>SimSun</vt:lpstr>
      <vt:lpstr>Wingdings</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KOA Agentic-RAG System — Báo cáo giữa kỳ nghiên cứu</dc:title>
  <dc:creator>Phạm Hồng Đăng Khoa; Nguyễn Hoàng Khang</dc:creator>
  <cp:keywords>KOA, Agentic-RAG, TDTU-inspired, midterm, ac4ade7</cp:keywords>
  <dc:subject>DV-OGEC-RAG; scientific baseline ac4ade7</dc:subject>
  <cp:lastModifiedBy>User</cp:lastModifiedBy>
  <cp:revision>1</cp:revision>
  <dcterms:created xsi:type="dcterms:W3CDTF">2026-10-21T17:01:07Z</dcterms:created>
  <dcterms:modified xsi:type="dcterms:W3CDTF">2026-10-21T17:01:07Z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5A4F4AABB432418C9A33337ABBD27CDB_11</vt:lpwstr>
  </property>
</Properties>
</file>